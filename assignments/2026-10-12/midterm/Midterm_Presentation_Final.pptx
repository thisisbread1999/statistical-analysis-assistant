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d2a9a1b77094403" /><Relationship Type="http://schemas.openxmlformats.org/officeDocument/2006/relationships/extended-properties" Target="/docProps/app.xml" Id="R72e3e21fc3014e33" /><Relationship Type="http://schemas.openxmlformats.org/officeDocument/2006/relationships/officeDocument" Target="/ppt/presentation.xml" Id="R1652883079764238" /></Relationships>
</file>

<file path=ppt/presentation.xml><?xml version="1.0" encoding="utf-8"?>
<p:presentation xmlns:p="http://schemas.openxmlformats.org/presentationml/2006/main">
  <p:sldMasterIdLst>
    <p:sldMasterId xmlns:r="http://schemas.openxmlformats.org/officeDocument/2006/relationships" id="2147483648" r:id="R212afb4b361a4471"/>
  </p:sldMasterIdLst>
  <p:notesMasterIdLst>
    <p:notesMasterId xmlns:r="http://schemas.openxmlformats.org/officeDocument/2006/relationships" r:id="Rdd6591e13fa14b9d"/>
  </p:notesMasterIdLst>
  <p:sldIdLst>
    <p:sldId xmlns:r="http://schemas.openxmlformats.org/officeDocument/2006/relationships" id="256" r:id="R0e4099f2f4914317"/>
    <p:sldId xmlns:r="http://schemas.openxmlformats.org/officeDocument/2006/relationships" id="257" r:id="Rcf34c7009da6498d"/>
    <p:sldId xmlns:r="http://schemas.openxmlformats.org/officeDocument/2006/relationships" id="258" r:id="Rf906329583084cb8"/>
    <p:sldId xmlns:r="http://schemas.openxmlformats.org/officeDocument/2006/relationships" id="259" r:id="R1a906f9e4ab441d5"/>
    <p:sldId xmlns:r="http://schemas.openxmlformats.org/officeDocument/2006/relationships" id="260" r:id="R12ef323c803f4a4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5952873fbc94a49" /><Relationship Type="http://schemas.openxmlformats.org/officeDocument/2006/relationships/slideMaster" Target="/ppt/slideMasters/slideMaster1.xml" Id="R212afb4b361a4471" /><Relationship Type="http://schemas.openxmlformats.org/officeDocument/2006/relationships/notesMaster" Target="/ppt/notesMasters/notesMaster1.xml" Id="Rdd6591e13fa14b9d" /><Relationship Type="http://schemas.openxmlformats.org/officeDocument/2006/relationships/presProps" Target="/ppt/presProps.xml" Id="R13b9a15f663c41b1" /><Relationship Type="http://schemas.openxmlformats.org/officeDocument/2006/relationships/tableStyles" Target="/ppt/tableStyles.xml" Id="R64ed4ca3e9014f37" /><Relationship Type="http://schemas.openxmlformats.org/officeDocument/2006/relationships/slide" Target="/ppt/slides/slide1.xml" Id="R0e4099f2f4914317" /><Relationship Type="http://schemas.openxmlformats.org/officeDocument/2006/relationships/slide" Target="/ppt/slides/slide2.xml" Id="Rcf34c7009da6498d" /><Relationship Type="http://schemas.openxmlformats.org/officeDocument/2006/relationships/slide" Target="/ppt/slides/slide3.xml" Id="Rf906329583084cb8" /><Relationship Type="http://schemas.openxmlformats.org/officeDocument/2006/relationships/slide" Target="/ppt/slides/slide4.xml" Id="R1a906f9e4ab441d5" /><Relationship Type="http://schemas.openxmlformats.org/officeDocument/2006/relationships/slide" Target="/ppt/slides/slide5.xml" Id="R12ef323c803f4a4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12654b7932344d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4eedae7b66d4f6f" /><Relationship Type="http://schemas.openxmlformats.org/officeDocument/2006/relationships/notesMaster" Target="/ppt/notesMasters/notesMaster1.xml" Id="R3dab831f3be7434b" /></Relationships>
</file>

<file path=ppt/notesSlides/_rels/notesSlide2.xml.rels>&#65279;<?xml version="1.0" encoding="utf-8"?><Relationships xmlns="http://schemas.openxmlformats.org/package/2006/relationships"><Relationship Type="http://schemas.openxmlformats.org/officeDocument/2006/relationships/slide" Target="/ppt/slides/slide2.xml" Id="Rd6cbc79e6bd147e5" /><Relationship Type="http://schemas.openxmlformats.org/officeDocument/2006/relationships/notesMaster" Target="/ppt/notesMasters/notesMaster1.xml" Id="R5f8a76b298774202" /></Relationships>
</file>

<file path=ppt/notesSlides/_rels/notesSlide3.xml.rels>&#65279;<?xml version="1.0" encoding="utf-8"?><Relationships xmlns="http://schemas.openxmlformats.org/package/2006/relationships"><Relationship Type="http://schemas.openxmlformats.org/officeDocument/2006/relationships/slide" Target="/ppt/slides/slide3.xml" Id="R4bdd7f6976d4431e" /><Relationship Type="http://schemas.openxmlformats.org/officeDocument/2006/relationships/notesMaster" Target="/ppt/notesMasters/notesMaster1.xml" Id="R74a01bb079214cb5" /></Relationships>
</file>

<file path=ppt/notesSlides/_rels/notesSlide4.xml.rels>&#65279;<?xml version="1.0" encoding="utf-8"?><Relationships xmlns="http://schemas.openxmlformats.org/package/2006/relationships"><Relationship Type="http://schemas.openxmlformats.org/officeDocument/2006/relationships/slide" Target="/ppt/slides/slide4.xml" Id="Rf00cf2ce299845cb" /><Relationship Type="http://schemas.openxmlformats.org/officeDocument/2006/relationships/notesMaster" Target="/ppt/notesMasters/notesMaster1.xml" Id="R42c2146f93854e7a" /></Relationships>
</file>

<file path=ppt/notesSlides/_rels/notesSlide5.xml.rels>&#65279;<?xml version="1.0" encoding="utf-8"?><Relationships xmlns="http://schemas.openxmlformats.org/package/2006/relationships"><Relationship Type="http://schemas.openxmlformats.org/officeDocument/2006/relationships/slide" Target="/ppt/slides/slide5.xml" Id="R86934d408f51443c" /><Relationship Type="http://schemas.openxmlformats.org/officeDocument/2006/relationships/notesMaster" Target="/ppt/notesMasters/notesMaster1.xml" Id="Ra89fac416cbc478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We built an assistant for a CSV and a natural-language research question. It produces an explicit plan, diagnoses the data, calls statistical tools and gives a reviewed explanation with uncertainty. A p-value can be numerically correct while the explanation uses the wrong target or implies causation. Our prototype makes those decisions visible. It supports four methods and runs through a local browser UI, CLI or notebook. The graph has seventeen workflow nodes but only two LLM agents, backed by different local models. Memory lasts for the running process.</a:t>
            </a:r>
          </a:p>
          <a:p xmlns:a="http://schemas.openxmlformats.org/drawingml/2006/main">
            <a:r>
              <a:t/>
            </a:r>
          </a:p>
          <a:p xmlns:a="http://schemas.openxmlformats.org/drawingml/2006/main">
            <a:r>
              <a:t>Sources: https://github.com/thisisbread1999/statistical-analysis-assistant/blob/4ebe82c/README.md ; https://github.com/thisisbread1999/statistical-analysis-assistant/blob/4ebe82c/stat_assistant/workflow.py ; https://github.com/thisisbread1999/statistical-analysis-assistant/blob/4ebe82c/ui_server.py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seconds. Qwen3 is Model A: it plans, checks variable meanings and study design, drafts the report and revises when needed. The LLM semantic diagnosis and Python value checks run in parallel. Both finish before routing. Correctable or verifiable data issues pause for a user decision. Users can correct, exclude or verify records, with optional notes. The original data and decision history remain available. Python calculates protected statistics. OLS also reports Cook's distance, leverage and a studentized Breusch-Pagan variance diagnostic. Flags describe potential problems and do not automatically remove records or change the estimator. Gemma3 independently reviews the rendered draft against the original evidence. One report revision is allowed before stopping. Requests also permit one plan revision, two answered clarification rounds and at most fifteen model calls. Two models can still share errors.</a:t>
            </a:r>
          </a:p>
          <a:p xmlns:a="http://schemas.openxmlformats.org/drawingml/2006/main">
            <a:r>
              <a:t/>
            </a:r>
          </a:p>
          <a:p xmlns:a="http://schemas.openxmlformats.org/drawingml/2006/main">
            <a:r>
              <a:t>Sources: https://github.com/thisisbread1999/statistical-analysis-assistant/blob/4ebe82c/stat_assistant/nodes.py ; https://github.com/thisisbread1999/statistical-analysis-assistant/blob/4ebe82c/stat_assistant/tools.py ; https://github.com/thisisbread1999/statistical-analysis-assistant/blob/4ebe82c/stat_assistant/settings.py ; https://github.com/thisisbread1999/statistical-analysis-assistant/blob/4ebe82c/stat_assistant/agents.py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80 seconds. Our synthetic tutoring data contains eighty simulated students, forty in each group. Teaching metadata states independent records and voluntary, nonrandom tutoring. These are supplied scenario assumptions. Model A maps score to outcome and tutoring to the two-group variable. The target is mean score for yes minus no, with a two-sided null of zero and alpha point zero five. Welch answers this mean comparison and allows unequal variances. Normality diagnostics describe risks and do not automatically change the target to a rank test. The means are 75.9525 and 69.035 points. SciPy gives a difference of 6.9175 points, a 95-percent interval from 2.9689 to 10.8661, t approximately 3.4927 with 71.4775 degrees of freedom, and p approximately 0.000824. We reject the null under the stated analysis assumptions. Nonrandom assignment means this result does not establish that tutoring caused higher scores.</a:t>
            </a:r>
          </a:p>
          <a:p xmlns:a="http://schemas.openxmlformats.org/drawingml/2006/main">
            <a:r>
              <a:t/>
            </a:r>
          </a:p>
          <a:p xmlns:a="http://schemas.openxmlformats.org/drawingml/2006/main">
            <a:r>
              <a:t>Sources: https://github.com/thisisbread1999/statistical-analysis-assistant/blob/4ebe82c/examples/tutoring_scores_clean_synthetic.csv ; https://github.com/thisisbread1999/statistical-analysis-assistant/blob/4ebe82c/artifacts/verification/initial_full_real.json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seconds. Explanation follow-ups reuse validated statistics but draft and review new prose. Asking for a 99-percent interval reruns the statistical tool using the existing data and design. The interval widens to about 1.68 through 12.16 points while alpha, estimate and p-value stay fixed. A subset requires a new CSV. We passed 192 software tests. Our live evaluation checked 31 adapted synthetic scenarios and passed 27 workflow checks. These checks measure prespecified behavior, not semantic accuracy. Assessed numerical outputs matched references in 19 of 19 cases. Including separate warm-up analyses, reviewers accepted 17 of 20 computed reports. A controlled challenge combining code checks and Model B accepted all four valid controls and caught ten of twelve planted errors. This is checker coverage. Human scoring remains pending.</a:t>
            </a:r>
          </a:p>
          <a:p xmlns:a="http://schemas.openxmlformats.org/drawingml/2006/main">
            <a:r>
              <a:t/>
            </a:r>
          </a:p>
          <a:p xmlns:a="http://schemas.openxmlformats.org/drawingml/2006/main">
            <a:r>
              <a:t>Sources: https://github.com/thisisbread1999/statistical-analysis-assistant/blob/4ebe82c/docs/VERIFICATION.md ; https://github.com/thisisbread1999/statistical-analysis-assistant/blob/4ebe82c/artifacts/benchmark_v2/20261012-live-blinded/REPORT.md ; https://github.com/thisisbread1999/statistical-analysis-assistant/blob/4ebe82c/artifacts/interpretation_checks/20261012-live-blinded/REPORT.md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 seconds. We propose three extensions. First, people already participate by confirming record corrections or exclusions. The next evaluation layer is independent human scoring of method selection, numerical fidelity and statistical meaning. The CSV and rubric are ready, but no one has filled the ratings. Reviewers will score separately and resolve disagreements. Selective analyst review could help with unresolved cases in a later version. Second, the prototype currently supports four basic methods. We will add methods such as paired tests and multiple regression when the question and study design require them, with explicit targets and assumptions. Third, we will retain synthetic cases with known references and add curated public datasets, potentially from Kaggle. We will verify that the data have documented real-world origins and study design information. Experts will provide reference analyses and assess interpretations. Real datasets usually lack known population truth, so we cannot treat a plausible result as ground truth. These are planned extensions, not completed experiments.</a:t>
            </a:r>
          </a:p>
          <a:p xmlns:a="http://schemas.openxmlformats.org/drawingml/2006/main">
            <a:r>
              <a:t/>
            </a:r>
          </a:p>
          <a:p xmlns:a="http://schemas.openxmlformats.org/drawingml/2006/main">
            <a:r>
              <a:t>Sources: https://github.com/thisisbread1999/statistical-analysis-assistant/blob/4ebe82c/docs/HUMAN_EVALUATION_RUBRIC.md ; https://github.com/thisisbread1999/statistical-analysis-assistant/blob/4ebe82c/artifacts/benchmark_v2/20261012-live-blinded/human_review.csv ; https://github.com/thisisbread1999/statistical-analysis-assistant/blob/4ebe82c/stat_assistant/methods.py ; https://github.com/thisisbread1999/statistical-analysis-assistant/blob/4ebe82c/examples/benchmark_v2/manifest.json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6797db298f54a5b"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2b8a952be7b453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64f4f17d0cd404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f028799d933406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0145e8e8fe54f6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ae72ed8dd5c43a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63F0774-4E77-4BBC-B4FD-E55CAB7B5CC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8C87930-DEA5-4508-B4EC-6923616B8DFB}"/>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599AFCB-E266-4654-AEF9-7AB3E6937E5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E8BE82F-E4A9-44DB-9F05-5CA3EDC4382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0F949D1-7686-4197-9007-261E51BBEBF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00551AC-8854-4874-8805-B084AC85420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FE4AFED-FB3B-4AE2-85FB-447A973DE87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0DAF537-4C77-409A-9BB1-4B6B402FD83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5499BEE-62AD-48B5-86DC-E747CB76D52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defRPr/>
            </a:lvl1pPr>
            <a:lvl2pPr marL="0" indent="0">
              <a:lnSpc>
                <a:spcPct val="110000"/>
              </a:lnSpc>
              <a:spcBef>
                <a:spcPts val="0"/>
              </a:spcBef>
              <a:spcAft>
                <a:spcPts val="0"/>
              </a:spcAft>
              <a:buNone/>
              <a:defRPr/>
            </a:lvl2pPr>
            <a:lvl3pPr marL="0" indent="0">
              <a:lnSpc>
                <a:spcPct val="110000"/>
              </a:lnSpc>
              <a:spcBef>
                <a:spcPts val="0"/>
              </a:spcBef>
              <a:spcAft>
                <a:spcPts val="0"/>
              </a:spcAft>
              <a:buNone/>
              <a:defRPr/>
            </a:lvl3pPr>
            <a:lvl4pPr marL="0" indent="0">
              <a:lnSpc>
                <a:spcPct val="110000"/>
              </a:lnSpc>
              <a:spcBef>
                <a:spcPts val="0"/>
              </a:spcBef>
              <a:spcAft>
                <a:spcPts val="0"/>
              </a:spcAft>
              <a:buNone/>
              <a:defRPr/>
            </a:lvl4pPr>
            <a:lvl5pPr marL="0" indent="0">
              <a:lnSpc>
                <a:spcPct val="110000"/>
              </a:lnSpc>
              <a:spcBef>
                <a:spcPts val="0"/>
              </a:spcBef>
              <a:spcAft>
                <a:spcPts val="0"/>
              </a:spcAft>
              <a:buNone/>
              <a:defRPr/>
            </a:lvl5pPr>
            <a:lvl6pPr marL="0" indent="0">
              <a:lnSpc>
                <a:spcPct val="110000"/>
              </a:lnSpc>
              <a:spcBef>
                <a:spcPts val="0"/>
              </a:spcBef>
              <a:spcAft>
                <a:spcPts val="0"/>
              </a:spcAft>
              <a:buNone/>
              <a:defRPr/>
            </a:lvl6pPr>
            <a:lvl7pPr marL="0" indent="0">
              <a:lnSpc>
                <a:spcPct val="110000"/>
              </a:lnSpc>
              <a:spcBef>
                <a:spcPts val="0"/>
              </a:spcBef>
              <a:spcAft>
                <a:spcPts val="0"/>
              </a:spcAft>
              <a:buNone/>
              <a:defRPr/>
            </a:lvl7pPr>
            <a:lvl8pPr marL="0" indent="0">
              <a:lnSpc>
                <a:spcPct val="110000"/>
              </a:lnSpc>
              <a:spcBef>
                <a:spcPts val="0"/>
              </a:spcBef>
              <a:spcAft>
                <a:spcPts val="0"/>
              </a:spcAft>
              <a:buNone/>
              <a:defRPr/>
            </a:lvl8pPr>
            <a:lvl9pPr marL="0" indent="0">
              <a:lnSpc>
                <a:spcPct val="110000"/>
              </a:lnSpc>
              <a:spcBef>
                <a:spcPts val="0"/>
              </a:spcBef>
              <a:spcAft>
                <a:spcPts val="0"/>
              </a:spcAft>
              <a:buNone/>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4F5FC98-E22F-4E3A-9A66-E2C7BC9F3F1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defRPr/>
            </a:lvl1pPr>
            <a:lvl2pPr marL="533400" indent="-228600">
              <a:lnSpc>
                <a:spcPct val="110000"/>
              </a:lnSpc>
              <a:spcBef>
                <a:spcPts val="0"/>
              </a:spcBef>
              <a:spcAft>
                <a:spcPts val="1200"/>
              </a:spcAft>
              <a:buChar char="•"/>
              <a:defRPr/>
            </a:lvl2pPr>
            <a:lvl3pPr marL="838200" indent="-228600">
              <a:lnSpc>
                <a:spcPct val="110000"/>
              </a:lnSpc>
              <a:spcBef>
                <a:spcPts val="0"/>
              </a:spcBef>
              <a:spcAft>
                <a:spcPts val="1200"/>
              </a:spcAft>
              <a:buChar char="•"/>
              <a:defRPr/>
            </a:lvl3pPr>
            <a:lvl4pPr marL="1143000" indent="-228600">
              <a:lnSpc>
                <a:spcPct val="110000"/>
              </a:lnSpc>
              <a:spcBef>
                <a:spcPts val="0"/>
              </a:spcBef>
              <a:spcAft>
                <a:spcPts val="1200"/>
              </a:spcAft>
              <a:buChar char="•"/>
              <a:defRPr/>
            </a:lvl4pPr>
            <a:lvl5pPr marL="1447800" indent="-228600">
              <a:lnSpc>
                <a:spcPct val="110000"/>
              </a:lnSpc>
              <a:spcBef>
                <a:spcPts val="0"/>
              </a:spcBef>
              <a:spcAft>
                <a:spcPts val="1200"/>
              </a:spcAft>
              <a:buChar char="•"/>
              <a:defRPr/>
            </a:lvl5pPr>
            <a:lvl6pPr marL="1752600" indent="-228600">
              <a:lnSpc>
                <a:spcPct val="110000"/>
              </a:lnSpc>
              <a:spcBef>
                <a:spcPts val="0"/>
              </a:spcBef>
              <a:spcAft>
                <a:spcPts val="1200"/>
              </a:spcAft>
              <a:buChar char="•"/>
              <a:defRPr/>
            </a:lvl6pPr>
            <a:lvl7pPr marL="2057400" indent="-228600">
              <a:lnSpc>
                <a:spcPct val="110000"/>
              </a:lnSpc>
              <a:spcBef>
                <a:spcPts val="0"/>
              </a:spcBef>
              <a:spcAft>
                <a:spcPts val="1200"/>
              </a:spcAft>
              <a:buChar char="•"/>
              <a:defRPr/>
            </a:lvl7pPr>
            <a:lvl8pPr marL="2362200" indent="-228600">
              <a:lnSpc>
                <a:spcPct val="110000"/>
              </a:lnSpc>
              <a:spcBef>
                <a:spcPts val="0"/>
              </a:spcBef>
              <a:spcAft>
                <a:spcPts val="1200"/>
              </a:spcAft>
              <a:buChar char="•"/>
              <a:defRPr/>
            </a:lvl8pPr>
            <a:lvl9pPr marL="2667000" indent="-228600">
              <a:lnSpc>
                <a:spcPct val="110000"/>
              </a:lnSpc>
              <a:spcBef>
                <a:spcPts val="0"/>
              </a:spcBef>
              <a:spcAft>
                <a:spcPts val="1200"/>
              </a:spcAft>
              <a:buChar char="•"/>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492e8f4649d4dec" /><Relationship Type="http://schemas.openxmlformats.org/officeDocument/2006/relationships/slideLayout" Target="/ppt/slideLayouts/slideLayout1.xml" Id="Rceda08659a864fd1" /><Relationship Type="http://schemas.openxmlformats.org/officeDocument/2006/relationships/slideLayout" Target="/ppt/slideLayouts/slideLayout2.xml" Id="R8cb7efdffa374cdc" /><Relationship Type="http://schemas.openxmlformats.org/officeDocument/2006/relationships/slideLayout" Target="/ppt/slideLayouts/slideLayout3.xml" Id="Rfa312475001a4c21" /><Relationship Type="http://schemas.openxmlformats.org/officeDocument/2006/relationships/slideLayout" Target="/ppt/slideLayouts/slideLayout4.xml" Id="R2804c044598444b0" /><Relationship Type="http://schemas.openxmlformats.org/officeDocument/2006/relationships/slideLayout" Target="/ppt/slideLayouts/slideLayout5.xml" Id="Rd8a687278f184a81" /><Relationship Type="http://schemas.openxmlformats.org/officeDocument/2006/relationships/slideLayout" Target="/ppt/slideLayouts/slideLayout6.xml" Id="R28de0ef6368f4f5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eda08659a864fd1"/>
    <p:sldLayoutId xmlns:r="http://schemas.openxmlformats.org/officeDocument/2006/relationships" id="2147483650" r:id="R8cb7efdffa374cdc"/>
    <p:sldLayoutId xmlns:r="http://schemas.openxmlformats.org/officeDocument/2006/relationships" id="2147483651" r:id="Rfa312475001a4c21"/>
    <p:sldLayoutId xmlns:r="http://schemas.openxmlformats.org/officeDocument/2006/relationships" id="2147483652" r:id="R2804c044598444b0"/>
    <p:sldLayoutId xmlns:r="http://schemas.openxmlformats.org/officeDocument/2006/relationships" id="2147483653" r:id="Rd8a687278f184a81"/>
    <p:sldLayoutId xmlns:r="http://schemas.openxmlformats.org/officeDocument/2006/relationships" id="2147483654" r:id="R28de0ef6368f4f5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bca1791ea794535" /><Relationship Type="http://schemas.openxmlformats.org/officeDocument/2006/relationships/notesSlide" Target="/ppt/notesSlides/notesSlide1.xml" Id="Rbaca015a1aa4495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807947ceec147c5" /><Relationship Type="http://schemas.openxmlformats.org/officeDocument/2006/relationships/notesSlide" Target="/ppt/notesSlides/notesSlide2.xml" Id="R747462a99be640e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2511a91fa09424b" /><Relationship Type="http://schemas.openxmlformats.org/officeDocument/2006/relationships/notesSlide" Target="/ppt/notesSlides/notesSlide3.xml" Id="R2f5eccbe41b74f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9d250fbd0e84b36" /><Relationship Type="http://schemas.openxmlformats.org/officeDocument/2006/relationships/notesSlide" Target="/ppt/notesSlides/notesSlide4.xml" Id="R0b9750572045483f"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f52b76eb20444087" /><Relationship Type="http://schemas.openxmlformats.org/officeDocument/2006/relationships/notesSlide" Target="/ppt/notesSlides/notesSlide5.xml" Id="Rd088a4f7623d43c0" /></Relationships>
</file>

<file path=ppt/slides/slide1.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F0D8E37-4809-491F-98AE-5B21EF19809C}"/>
              </a:ext>
            </a:extLst>
          </p:cNvPr>
          <p:cNvSpPr>
            <a:spLocks xmlns:a="http://schemas.openxmlformats.org/drawingml/2006/main" noGrp="1"/>
          </p:cNvSpPr>
          <p:nvPr/>
        </p:nvSpPr>
        <p:spPr>
          <a:xfrm xmlns:a="http://schemas.openxmlformats.org/drawingml/2006/main">
            <a:off x="609600" y="266700"/>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BD5036"/>
                </a:solidFill>
                <a:latin typeface="Calibri"/>
                <a:ea typeface="Calibri"/>
                <a:cs typeface="Calibri"/>
              </a:defRPr>
            </a:defPPr>
          </a:lstStyle>
          <a:p xmlns:a="http://schemas.openxmlformats.org/drawingml/2006/main">
            <a:pPr>
              <a:buNone/>
              <a:defRPr sz="1275" b="1">
                <a:solidFill>
                  <a:srgbClr val="BD5036"/>
                </a:solidFill>
                <a:latin typeface="Calibri"/>
                <a:ea typeface="Calibri"/>
                <a:cs typeface="Calibri"/>
              </a:defRPr>
            </a:pPr>
            <a:r>
              <a:rPr sz="1275" b="1">
                <a:solidFill>
                  <a:srgbClr val="BD5036"/>
                </a:solidFill>
                <a:latin typeface="Calibri"/>
                <a:ea typeface="Calibri"/>
                <a:cs typeface="Calibri"/>
              </a:rPr>
              <a:t>CS7327  /  MIDTERM PROJECT</a:t>
            </a:r>
          </a:p>
        </p:txBody>
      </p:sp>
      <p:sp>
        <p:nvSpPr>
          <p:cNvPr id="2" name="">
            <a:extLst xmlns:a="http://schemas.openxmlformats.org/drawingml/2006/main">
              <a:ext uri="{FF2B5EF4-FFF2-40B4-BE49-F238E27FC236}">
                <a16:creationId xmlns:a16="http://schemas.microsoft.com/office/drawing/2014/main" id="{FE9032E9-F813-4ECA-B8F1-59856C73411D}"/>
              </a:ext>
            </a:extLst>
          </p:cNvPr>
          <p:cNvSpPr>
            <a:spLocks xmlns:a="http://schemas.openxmlformats.org/drawingml/2006/main" noGrp="1"/>
          </p:cNvSpPr>
          <p:nvPr/>
        </p:nvSpPr>
        <p:spPr>
          <a:xfrm xmlns:a="http://schemas.openxmlformats.org/drawingml/2006/main">
            <a:off x="609600" y="781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3D36"/>
                </a:solidFill>
                <a:latin typeface="Calibri"/>
                <a:ea typeface="Calibri"/>
                <a:cs typeface="Calibri"/>
              </a:defRPr>
            </a:defPPr>
          </a:lstStyle>
          <a:p xmlns:a="http://schemas.openxmlformats.org/drawingml/2006/main">
            <a:pPr>
              <a:buNone/>
              <a:defRPr sz="3225" b="1">
                <a:solidFill>
                  <a:srgbClr val="183D36"/>
                </a:solidFill>
                <a:latin typeface="Calibri"/>
                <a:ea typeface="Calibri"/>
                <a:cs typeface="Calibri"/>
              </a:defRPr>
            </a:pPr>
            <a:r>
              <a:rPr sz="3225" b="1">
                <a:solidFill>
                  <a:srgbClr val="183D36"/>
                </a:solidFill>
                <a:latin typeface="Calibri"/>
                <a:ea typeface="Calibri"/>
                <a:cs typeface="Calibri"/>
              </a:rPr>
              <a:t>Agentic Statistical Analysis Assistant</a:t>
            </a:r>
          </a:p>
        </p:txBody>
      </p:sp>
      <p:sp>
        <p:nvSpPr>
          <p:cNvPr id="3" name="">
            <a:extLst xmlns:a="http://schemas.openxmlformats.org/drawingml/2006/main">
              <a:ext uri="{FF2B5EF4-FFF2-40B4-BE49-F238E27FC236}">
                <a16:creationId xmlns:a16="http://schemas.microsoft.com/office/drawing/2014/main" id="{142D52D4-F750-4770-BD62-4EECFF6C5B0D}"/>
              </a:ext>
            </a:extLst>
          </p:cNvPr>
          <p:cNvSpPr>
            <a:spLocks xmlns:a="http://schemas.openxmlformats.org/drawingml/2006/main" noGrp="1"/>
          </p:cNvSpPr>
          <p:nvPr/>
        </p:nvSpPr>
        <p:spPr>
          <a:xfrm xmlns:a="http://schemas.openxmlformats.org/drawingml/2006/main">
            <a:off x="609600" y="6286500"/>
            <a:ext cx="10972800" cy="19050"/>
          </a:xfrm>
          <a:prstGeom xmlns:a="http://schemas.openxmlformats.org/drawingml/2006/main" prst="rect">
            <a:avLst/>
          </a:prstGeom>
          <a:solidFill xmlns:a="http://schemas.openxmlformats.org/drawingml/2006/main">
            <a:srgbClr val="183D3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8CDE7C4-024A-4066-9BFF-D12D8EE10A3C}"/>
              </a:ext>
            </a:extLst>
          </p:cNvPr>
          <p:cNvSpPr>
            <a:spLocks xmlns:a="http://schemas.openxmlformats.org/drawingml/2006/main" noGrp="1"/>
          </p:cNvSpPr>
          <p:nvPr/>
        </p:nvSpPr>
        <p:spPr>
          <a:xfrm xmlns:a="http://schemas.openxmlformats.org/drawingml/2006/main">
            <a:off x="609600" y="6410325"/>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5766F"/>
                </a:solidFill>
                <a:latin typeface="Calibri"/>
                <a:ea typeface="Calibri"/>
                <a:cs typeface="Calibri"/>
              </a:defRPr>
            </a:defPPr>
          </a:lstStyle>
          <a:p xmlns:a="http://schemas.openxmlformats.org/drawingml/2006/main">
            <a:pPr>
              <a:buNone/>
              <a:defRPr sz="1275" b="0">
                <a:solidFill>
                  <a:srgbClr val="65766F"/>
                </a:solidFill>
                <a:latin typeface="Calibri"/>
                <a:ea typeface="Calibri"/>
                <a:cs typeface="Calibri"/>
              </a:defRPr>
            </a:pPr>
            <a:r>
              <a:rPr sz="1275" b="0">
                <a:solidFill>
                  <a:srgbClr val="65766F"/>
                </a:solidFill>
                <a:latin typeface="Calibri"/>
                <a:ea typeface="Calibri"/>
                <a:cs typeface="Calibri"/>
              </a:rPr>
              <a:t>Jingcheng Zhou and Junliang Lyu</a:t>
            </a:r>
          </a:p>
        </p:txBody>
      </p:sp>
      <p:sp>
        <p:nvSpPr>
          <p:cNvPr id="5" name="">
            <a:extLst xmlns:a="http://schemas.openxmlformats.org/drawingml/2006/main">
              <a:ext uri="{FF2B5EF4-FFF2-40B4-BE49-F238E27FC236}">
                <a16:creationId xmlns:a16="http://schemas.microsoft.com/office/drawing/2014/main" id="{A0C358CC-5882-43A6-9E18-C472538C137E}"/>
              </a:ext>
            </a:extLst>
          </p:cNvPr>
          <p:cNvSpPr>
            <a:spLocks xmlns:a="http://schemas.openxmlformats.org/drawingml/2006/main" noGrp="1"/>
          </p:cNvSpPr>
          <p:nvPr/>
        </p:nvSpPr>
        <p:spPr>
          <a:xfrm xmlns:a="http://schemas.openxmlformats.org/drawingml/2006/main">
            <a:off x="10953750" y="641032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5766F"/>
                </a:solidFill>
                <a:latin typeface="Calibri"/>
                <a:ea typeface="Calibri"/>
                <a:cs typeface="Calibri"/>
              </a:defRPr>
            </a:defPPr>
          </a:lstStyle>
          <a:p xmlns:a="http://schemas.openxmlformats.org/drawingml/2006/main">
            <a:pPr>
              <a:buNone/>
              <a:defRPr sz="1275" b="0">
                <a:solidFill>
                  <a:srgbClr val="65766F"/>
                </a:solidFill>
                <a:latin typeface="Calibri"/>
                <a:ea typeface="Calibri"/>
                <a:cs typeface="Calibri"/>
              </a:defRPr>
            </a:pPr>
            <a:r>
              <a:rPr sz="1275" b="0">
                <a:solidFill>
                  <a:srgbClr val="65766F"/>
                </a:solidFill>
                <a:latin typeface="Calibri"/>
                <a:ea typeface="Calibri"/>
                <a:cs typeface="Calibri"/>
              </a:rPr>
              <a:t>1 / 5</a:t>
            </a:r>
          </a:p>
        </p:txBody>
      </p:sp>
      <p:sp>
        <p:nvSpPr>
          <p:cNvPr id="6" name="">
            <a:extLst xmlns:a="http://schemas.openxmlformats.org/drawingml/2006/main">
              <a:ext uri="{FF2B5EF4-FFF2-40B4-BE49-F238E27FC236}">
                <a16:creationId xmlns:a16="http://schemas.microsoft.com/office/drawing/2014/main" id="{FE37CF37-286D-4B31-96F8-3F698815117E}"/>
              </a:ext>
            </a:extLst>
          </p:cNvPr>
          <p:cNvSpPr>
            <a:spLocks xmlns:a="http://schemas.openxmlformats.org/drawingml/2006/main" noGrp="1"/>
          </p:cNvSpPr>
          <p:nvPr/>
        </p:nvSpPr>
        <p:spPr>
          <a:xfrm xmlns:a="http://schemas.openxmlformats.org/drawingml/2006/main">
            <a:off x="609600" y="2057400"/>
            <a:ext cx="2762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183D36"/>
                </a:solidFill>
                <a:latin typeface="Calibri"/>
                <a:ea typeface="Calibri"/>
                <a:cs typeface="Calibri"/>
              </a:defRPr>
            </a:defPPr>
          </a:lstStyle>
          <a:p xmlns:a="http://schemas.openxmlformats.org/drawingml/2006/main">
            <a:pPr>
              <a:buNone/>
              <a:defRPr sz="2625" b="1">
                <a:solidFill>
                  <a:srgbClr val="183D36"/>
                </a:solidFill>
                <a:latin typeface="Calibri"/>
                <a:ea typeface="Calibri"/>
                <a:cs typeface="Calibri"/>
              </a:defRPr>
            </a:pPr>
            <a:r>
              <a:rPr sz="2625" b="1">
                <a:solidFill>
                  <a:srgbClr val="183D36"/>
                </a:solidFill>
                <a:latin typeface="Calibri"/>
                <a:ea typeface="Calibri"/>
                <a:cs typeface="Calibri"/>
              </a:rPr>
              <a:t>CSV + question</a:t>
            </a:r>
          </a:p>
        </p:txBody>
      </p:sp>
      <p:sp>
        <p:nvSpPr>
          <p:cNvPr id="7" name="">
            <a:extLst xmlns:a="http://schemas.openxmlformats.org/drawingml/2006/main">
              <a:ext uri="{FF2B5EF4-FFF2-40B4-BE49-F238E27FC236}">
                <a16:creationId xmlns:a16="http://schemas.microsoft.com/office/drawing/2014/main" id="{73BD25B8-21A7-4A39-BC42-55237D512B32}"/>
              </a:ext>
            </a:extLst>
          </p:cNvPr>
          <p:cNvSpPr>
            <a:spLocks xmlns:a="http://schemas.openxmlformats.org/drawingml/2006/main" noGrp="1"/>
          </p:cNvSpPr>
          <p:nvPr/>
        </p:nvSpPr>
        <p:spPr>
          <a:xfrm xmlns:a="http://schemas.openxmlformats.org/drawingml/2006/main">
            <a:off x="609600" y="2657475"/>
            <a:ext cx="33528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83D36"/>
                </a:solidFill>
                <a:latin typeface="Calibri"/>
                <a:ea typeface="Calibri"/>
                <a:cs typeface="Calibri"/>
              </a:defRPr>
            </a:defPPr>
          </a:lstStyle>
          <a:p xmlns:a="http://schemas.openxmlformats.org/drawingml/2006/main">
            <a:pPr>
              <a:buNone/>
              <a:defRPr sz="2025" b="0">
                <a:solidFill>
                  <a:srgbClr val="183D36"/>
                </a:solidFill>
                <a:latin typeface="Calibri"/>
                <a:ea typeface="Calibri"/>
                <a:cs typeface="Calibri"/>
              </a:defRPr>
            </a:pPr>
            <a:r>
              <a:rPr sz="2025" b="0">
                <a:solidFill>
                  <a:srgbClr val="183D36"/>
                </a:solidFill>
                <a:latin typeface="Calibri"/>
                <a:ea typeface="Calibri"/>
                <a:cs typeface="Calibri"/>
              </a:rPr>
              <a:t>“Compare mean scores</a:t>
            </a:r>
          </a:p>
          <a:p xmlns:a="http://schemas.openxmlformats.org/drawingml/2006/main">
            <a:pPr>
              <a:buNone/>
              <a:defRPr sz="2025" b="0">
                <a:solidFill>
                  <a:srgbClr val="183D36"/>
                </a:solidFill>
                <a:latin typeface="Calibri"/>
                <a:ea typeface="Calibri"/>
                <a:cs typeface="Calibri"/>
              </a:defRPr>
            </a:pPr>
            <a:r>
              <a:rPr sz="2025" b="0">
                <a:solidFill>
                  <a:srgbClr val="183D36"/>
                </a:solidFill>
                <a:latin typeface="Calibri"/>
                <a:ea typeface="Calibri"/>
                <a:cs typeface="Calibri"/>
              </a:rPr>
              <a:t>for tutoring yes versus no.”</a:t>
            </a:r>
          </a:p>
        </p:txBody>
      </p:sp>
      <p:sp>
        <p:nvSpPr>
          <p:cNvPr id="8" name="">
            <a:extLst xmlns:a="http://schemas.openxmlformats.org/drawingml/2006/main">
              <a:ext uri="{FF2B5EF4-FFF2-40B4-BE49-F238E27FC236}">
                <a16:creationId xmlns:a16="http://schemas.microsoft.com/office/drawing/2014/main" id="{7D5349D3-8955-4397-85F5-3442BCFE743F}"/>
              </a:ext>
            </a:extLst>
          </p:cNvPr>
          <p:cNvSpPr>
            <a:spLocks xmlns:a="http://schemas.openxmlformats.org/drawingml/2006/main" noGrp="1"/>
          </p:cNvSpPr>
          <p:nvPr/>
        </p:nvSpPr>
        <p:spPr>
          <a:xfrm xmlns:a="http://schemas.openxmlformats.org/drawingml/2006/main">
            <a:off x="4038600" y="2724150"/>
            <a:ext cx="590550" cy="209550"/>
          </a:xfrm>
          <a:prstGeom xmlns:a="http://schemas.openxmlformats.org/drawingml/2006/main" prst="rightArrow">
            <a:avLst/>
          </a:prstGeom>
          <a:solidFill xmlns:a="http://schemas.openxmlformats.org/drawingml/2006/main">
            <a:srgbClr val="65766F"/>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F8164ED-A4E2-42A9-A67A-8C9448F8B430}"/>
              </a:ext>
            </a:extLst>
          </p:cNvPr>
          <p:cNvSpPr>
            <a:spLocks xmlns:a="http://schemas.openxmlformats.org/drawingml/2006/main" noGrp="1"/>
          </p:cNvSpPr>
          <p:nvPr/>
        </p:nvSpPr>
        <p:spPr>
          <a:xfrm xmlns:a="http://schemas.openxmlformats.org/drawingml/2006/main">
            <a:off x="4943475" y="2057400"/>
            <a:ext cx="323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183D36"/>
                </a:solidFill>
                <a:latin typeface="Calibri"/>
                <a:ea typeface="Calibri"/>
                <a:cs typeface="Calibri"/>
              </a:defRPr>
            </a:defPPr>
          </a:lstStyle>
          <a:p xmlns:a="http://schemas.openxmlformats.org/drawingml/2006/main">
            <a:pPr>
              <a:buNone/>
              <a:defRPr sz="2625" b="1">
                <a:solidFill>
                  <a:srgbClr val="183D36"/>
                </a:solidFill>
                <a:latin typeface="Calibri"/>
                <a:ea typeface="Calibri"/>
                <a:cs typeface="Calibri"/>
              </a:defRPr>
            </a:pPr>
            <a:r>
              <a:rPr sz="2625" b="1">
                <a:solidFill>
                  <a:srgbClr val="183D36"/>
                </a:solidFill>
                <a:latin typeface="Calibri"/>
                <a:ea typeface="Calibri"/>
                <a:cs typeface="Calibri"/>
              </a:rPr>
              <a:t>LangGraph workflow</a:t>
            </a:r>
          </a:p>
        </p:txBody>
      </p:sp>
      <p:sp>
        <p:nvSpPr>
          <p:cNvPr id="10" name="">
            <a:extLst xmlns:a="http://schemas.openxmlformats.org/drawingml/2006/main">
              <a:ext uri="{FF2B5EF4-FFF2-40B4-BE49-F238E27FC236}">
                <a16:creationId xmlns:a16="http://schemas.microsoft.com/office/drawing/2014/main" id="{614AB5C2-EA06-4D2F-B75F-18A33A925CD1}"/>
              </a:ext>
            </a:extLst>
          </p:cNvPr>
          <p:cNvSpPr>
            <a:spLocks xmlns:a="http://schemas.openxmlformats.org/drawingml/2006/main" noGrp="1"/>
          </p:cNvSpPr>
          <p:nvPr/>
        </p:nvSpPr>
        <p:spPr>
          <a:xfrm xmlns:a="http://schemas.openxmlformats.org/drawingml/2006/main">
            <a:off x="4943475" y="2657475"/>
            <a:ext cx="3200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83D36"/>
                </a:solidFill>
                <a:latin typeface="Calibri"/>
                <a:ea typeface="Calibri"/>
                <a:cs typeface="Calibri"/>
              </a:defRPr>
            </a:defPPr>
          </a:lstStyle>
          <a:p xmlns:a="http://schemas.openxmlformats.org/drawingml/2006/main">
            <a:pPr>
              <a:buNone/>
              <a:defRPr sz="2175" b="0">
                <a:solidFill>
                  <a:srgbClr val="183D36"/>
                </a:solidFill>
                <a:latin typeface="Calibri"/>
                <a:ea typeface="Calibri"/>
                <a:cs typeface="Calibri"/>
              </a:defRPr>
            </a:pPr>
            <a:r>
              <a:rPr sz="2175" b="0">
                <a:solidFill>
                  <a:srgbClr val="183D36"/>
                </a:solidFill>
                <a:latin typeface="Calibri"/>
                <a:ea typeface="Calibri"/>
                <a:cs typeface="Calibri"/>
              </a:rPr>
              <a:t>Plan → diagnose → compute</a:t>
            </a:r>
          </a:p>
          <a:p xmlns:a="http://schemas.openxmlformats.org/drawingml/2006/main">
            <a:pPr>
              <a:buNone/>
              <a:defRPr sz="2175" b="0">
                <a:solidFill>
                  <a:srgbClr val="183D36"/>
                </a:solidFill>
                <a:latin typeface="Calibri"/>
                <a:ea typeface="Calibri"/>
                <a:cs typeface="Calibri"/>
              </a:defRPr>
            </a:pPr>
            <a:r>
              <a:rPr sz="2175" b="0">
                <a:solidFill>
                  <a:srgbClr val="183D36"/>
                </a:solidFill>
                <a:latin typeface="Calibri"/>
                <a:ea typeface="Calibri"/>
                <a:cs typeface="Calibri"/>
              </a:rPr>
              <a:t>→ draft → review</a:t>
            </a:r>
          </a:p>
        </p:txBody>
      </p:sp>
      <p:sp>
        <p:nvSpPr>
          <p:cNvPr id="11" name="">
            <a:extLst xmlns:a="http://schemas.openxmlformats.org/drawingml/2006/main">
              <a:ext uri="{FF2B5EF4-FFF2-40B4-BE49-F238E27FC236}">
                <a16:creationId xmlns:a16="http://schemas.microsoft.com/office/drawing/2014/main" id="{7565187C-A71F-4261-8119-E6539FCA72BA}"/>
              </a:ext>
            </a:extLst>
          </p:cNvPr>
          <p:cNvSpPr>
            <a:spLocks xmlns:a="http://schemas.openxmlformats.org/drawingml/2006/main" noGrp="1"/>
          </p:cNvSpPr>
          <p:nvPr/>
        </p:nvSpPr>
        <p:spPr>
          <a:xfrm xmlns:a="http://schemas.openxmlformats.org/drawingml/2006/main">
            <a:off x="8391525" y="2724150"/>
            <a:ext cx="590550" cy="209550"/>
          </a:xfrm>
          <a:prstGeom xmlns:a="http://schemas.openxmlformats.org/drawingml/2006/main" prst="rightArrow">
            <a:avLst/>
          </a:prstGeom>
          <a:solidFill xmlns:a="http://schemas.openxmlformats.org/drawingml/2006/main">
            <a:srgbClr val="65766F"/>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DE892891-5D0D-458D-AF2C-8B1744A1CA1A}"/>
              </a:ext>
            </a:extLst>
          </p:cNvPr>
          <p:cNvSpPr>
            <a:spLocks xmlns:a="http://schemas.openxmlformats.org/drawingml/2006/main" noGrp="1"/>
          </p:cNvSpPr>
          <p:nvPr/>
        </p:nvSpPr>
        <p:spPr>
          <a:xfrm xmlns:a="http://schemas.openxmlformats.org/drawingml/2006/main">
            <a:off x="9258300" y="2057400"/>
            <a:ext cx="23431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625" b="1">
                <a:solidFill>
                  <a:srgbClr val="183D36"/>
                </a:solidFill>
                <a:latin typeface="Calibri"/>
                <a:ea typeface="Calibri"/>
                <a:cs typeface="Calibri"/>
              </a:defRPr>
            </a:defPPr>
          </a:lstStyle>
          <a:p xmlns:a="http://schemas.openxmlformats.org/drawingml/2006/main">
            <a:pPr>
              <a:buNone/>
              <a:defRPr sz="2625" b="1">
                <a:solidFill>
                  <a:srgbClr val="183D36"/>
                </a:solidFill>
                <a:latin typeface="Calibri"/>
                <a:ea typeface="Calibri"/>
                <a:cs typeface="Calibri"/>
              </a:defRPr>
            </a:pPr>
            <a:r>
              <a:rPr sz="2625" b="1">
                <a:solidFill>
                  <a:srgbClr val="183D36"/>
                </a:solidFill>
                <a:latin typeface="Calibri"/>
                <a:ea typeface="Calibri"/>
                <a:cs typeface="Calibri"/>
              </a:rPr>
              <a:t>Evidence + limits</a:t>
            </a:r>
          </a:p>
        </p:txBody>
      </p:sp>
      <p:sp>
        <p:nvSpPr>
          <p:cNvPr id="13" name="">
            <a:extLst xmlns:a="http://schemas.openxmlformats.org/drawingml/2006/main">
              <a:ext uri="{FF2B5EF4-FFF2-40B4-BE49-F238E27FC236}">
                <a16:creationId xmlns:a16="http://schemas.microsoft.com/office/drawing/2014/main" id="{2BB7F38C-1173-4BCC-A7AB-01ADF9FA2C11}"/>
              </a:ext>
            </a:extLst>
          </p:cNvPr>
          <p:cNvSpPr>
            <a:spLocks xmlns:a="http://schemas.openxmlformats.org/drawingml/2006/main" noGrp="1"/>
          </p:cNvSpPr>
          <p:nvPr/>
        </p:nvSpPr>
        <p:spPr>
          <a:xfrm xmlns:a="http://schemas.openxmlformats.org/drawingml/2006/main">
            <a:off x="9258300" y="3209925"/>
            <a:ext cx="23622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83D36"/>
                </a:solidFill>
                <a:latin typeface="Calibri"/>
                <a:ea typeface="Calibri"/>
                <a:cs typeface="Calibri"/>
              </a:defRPr>
            </a:defPPr>
          </a:lstStyle>
          <a:p xmlns:a="http://schemas.openxmlformats.org/drawingml/2006/main">
            <a:pPr>
              <a:buNone/>
              <a:defRPr sz="1950" b="0">
                <a:solidFill>
                  <a:srgbClr val="183D36"/>
                </a:solidFill>
                <a:latin typeface="Calibri"/>
                <a:ea typeface="Calibri"/>
                <a:cs typeface="Calibri"/>
              </a:defRPr>
            </a:pPr>
            <a:r>
              <a:rPr sz="1950" b="0">
                <a:solidFill>
                  <a:srgbClr val="183D36"/>
                </a:solidFill>
                <a:latin typeface="Calibri"/>
                <a:ea typeface="Calibri"/>
                <a:cs typeface="Calibri"/>
              </a:rPr>
              <a:t>Estimate + CI</a:t>
            </a:r>
          </a:p>
          <a:p xmlns:a="http://schemas.openxmlformats.org/drawingml/2006/main">
            <a:pPr>
              <a:buNone/>
              <a:defRPr sz="1950" b="0">
                <a:solidFill>
                  <a:srgbClr val="183D36"/>
                </a:solidFill>
                <a:latin typeface="Calibri"/>
                <a:ea typeface="Calibri"/>
                <a:cs typeface="Calibri"/>
              </a:defRPr>
            </a:pPr>
            <a:r>
              <a:rPr sz="1950" b="0">
                <a:solidFill>
                  <a:srgbClr val="183D36"/>
                </a:solidFill>
                <a:latin typeface="Calibri"/>
                <a:ea typeface="Calibri"/>
                <a:cs typeface="Calibri"/>
              </a:rPr>
              <a:t>p-value + review trail</a:t>
            </a:r>
          </a:p>
        </p:txBody>
      </p:sp>
      <p:sp>
        <p:nvSpPr>
          <p:cNvPr id="14" name="">
            <a:extLst xmlns:a="http://schemas.openxmlformats.org/drawingml/2006/main">
              <a:ext uri="{FF2B5EF4-FFF2-40B4-BE49-F238E27FC236}">
                <a16:creationId xmlns:a16="http://schemas.microsoft.com/office/drawing/2014/main" id="{85F5AAF0-EABB-4CE6-B0C6-D1345711BDD3}"/>
              </a:ext>
            </a:extLst>
          </p:cNvPr>
          <p:cNvSpPr>
            <a:spLocks xmlns:a="http://schemas.openxmlformats.org/drawingml/2006/main" noGrp="1"/>
          </p:cNvSpPr>
          <p:nvPr/>
        </p:nvSpPr>
        <p:spPr>
          <a:xfrm xmlns:a="http://schemas.openxmlformats.org/drawingml/2006/main">
            <a:off x="609600" y="4391025"/>
            <a:ext cx="10972800" cy="1323975"/>
          </a:xfrm>
          <a:prstGeom xmlns:a="http://schemas.openxmlformats.org/drawingml/2006/main" prst="rect">
            <a:avLst/>
          </a:prstGeom>
          <a:solidFill xmlns:a="http://schemas.openxmlformats.org/drawingml/2006/main">
            <a:srgbClr val="E9EEE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B13D711-E992-49D8-8B21-C0745F97F43E}"/>
              </a:ext>
            </a:extLst>
          </p:cNvPr>
          <p:cNvSpPr>
            <a:spLocks xmlns:a="http://schemas.openxmlformats.org/drawingml/2006/main" noGrp="1"/>
          </p:cNvSpPr>
          <p:nvPr/>
        </p:nvSpPr>
        <p:spPr>
          <a:xfrm xmlns:a="http://schemas.openxmlformats.org/drawingml/2006/main">
            <a:off x="819150" y="4562475"/>
            <a:ext cx="10477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1">
                <a:solidFill>
                  <a:srgbClr val="BD5036"/>
                </a:solidFill>
                <a:latin typeface="Calibri"/>
                <a:ea typeface="Calibri"/>
                <a:cs typeface="Calibri"/>
              </a:defRPr>
            </a:defPPr>
          </a:lstStyle>
          <a:p xmlns:a="http://schemas.openxmlformats.org/drawingml/2006/main">
            <a:pPr>
              <a:buNone/>
              <a:defRPr sz="1350" b="1">
                <a:solidFill>
                  <a:srgbClr val="BD5036"/>
                </a:solidFill>
                <a:latin typeface="Calibri"/>
                <a:ea typeface="Calibri"/>
                <a:cs typeface="Calibri"/>
              </a:defRPr>
            </a:pPr>
            <a:r>
              <a:rPr sz="1350" b="1">
                <a:solidFill>
                  <a:srgbClr val="BD5036"/>
                </a:solidFill>
                <a:latin typeface="Calibri"/>
                <a:ea typeface="Calibri"/>
                <a:cs typeface="Calibri"/>
              </a:rPr>
              <a:t>IMPLEMENTED</a:t>
            </a:r>
          </a:p>
        </p:txBody>
      </p:sp>
      <p:sp>
        <p:nvSpPr>
          <p:cNvPr id="16" name="">
            <a:extLst xmlns:a="http://schemas.openxmlformats.org/drawingml/2006/main">
              <a:ext uri="{FF2B5EF4-FFF2-40B4-BE49-F238E27FC236}">
                <a16:creationId xmlns:a16="http://schemas.microsoft.com/office/drawing/2014/main" id="{DE676234-F1C3-48AB-9CA7-B7D800281077}"/>
              </a:ext>
            </a:extLst>
          </p:cNvPr>
          <p:cNvSpPr>
            <a:spLocks xmlns:a="http://schemas.openxmlformats.org/drawingml/2006/main" noGrp="1"/>
          </p:cNvSpPr>
          <p:nvPr/>
        </p:nvSpPr>
        <p:spPr>
          <a:xfrm xmlns:a="http://schemas.openxmlformats.org/drawingml/2006/main">
            <a:off x="819150" y="495300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83D36"/>
                </a:solidFill>
                <a:latin typeface="Calibri"/>
                <a:ea typeface="Calibri"/>
                <a:cs typeface="Calibri"/>
              </a:defRPr>
            </a:defPPr>
          </a:lstStyle>
          <a:p xmlns:a="http://schemas.openxmlformats.org/drawingml/2006/main">
            <a:pPr>
              <a:buNone/>
              <a:defRPr sz="2175" b="1">
                <a:solidFill>
                  <a:srgbClr val="183D36"/>
                </a:solidFill>
                <a:latin typeface="Calibri"/>
                <a:ea typeface="Calibri"/>
                <a:cs typeface="Calibri"/>
              </a:defRPr>
            </a:pPr>
            <a:r>
              <a:rPr sz="2175" b="1">
                <a:solidFill>
                  <a:srgbClr val="183D36"/>
                </a:solidFill>
                <a:latin typeface="Calibri"/>
                <a:ea typeface="Calibri"/>
                <a:cs typeface="Calibri"/>
              </a:rPr>
              <a:t>Welch t-test   |   Pearson r   |   Chi-square   |   Simple OLS</a:t>
            </a:r>
          </a:p>
        </p:txBody>
      </p:sp>
      <p:sp>
        <p:nvSpPr>
          <p:cNvPr id="17" name="">
            <a:extLst xmlns:a="http://schemas.openxmlformats.org/drawingml/2006/main">
              <a:ext uri="{FF2B5EF4-FFF2-40B4-BE49-F238E27FC236}">
                <a16:creationId xmlns:a16="http://schemas.microsoft.com/office/drawing/2014/main" id="{13CDDAF8-645A-4C70-9677-FE3ABC181E02}"/>
              </a:ext>
            </a:extLst>
          </p:cNvPr>
          <p:cNvSpPr>
            <a:spLocks xmlns:a="http://schemas.openxmlformats.org/drawingml/2006/main" noGrp="1"/>
          </p:cNvSpPr>
          <p:nvPr/>
        </p:nvSpPr>
        <p:spPr>
          <a:xfrm xmlns:a="http://schemas.openxmlformats.org/drawingml/2006/main">
            <a:off x="819150" y="539115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83D36"/>
                </a:solidFill>
                <a:latin typeface="Calibri"/>
                <a:ea typeface="Calibri"/>
                <a:cs typeface="Calibri"/>
              </a:defRPr>
            </a:defPPr>
          </a:lstStyle>
          <a:p xmlns:a="http://schemas.openxmlformats.org/drawingml/2006/main">
            <a:pPr>
              <a:buNone/>
              <a:defRPr sz="1650" b="0">
                <a:solidFill>
                  <a:srgbClr val="183D36"/>
                </a:solidFill>
                <a:latin typeface="Calibri"/>
                <a:ea typeface="Calibri"/>
                <a:cs typeface="Calibri"/>
              </a:defRPr>
            </a:pPr>
            <a:r>
              <a:rPr sz="1650" b="0">
                <a:solidFill>
                  <a:srgbClr val="183D36"/>
                </a:solidFill>
                <a:latin typeface="Calibri"/>
                <a:ea typeface="Calibri"/>
                <a:cs typeface="Calibri"/>
              </a:rPr>
              <a:t>Local UI, CLI and notebooks   •   Two distinct models   •   Session memory</a:t>
            </a:r>
          </a:p>
        </p:txBody>
      </p:sp>
    </p:spTree>
    <p:extLst>
      <p:ext uri="{BB962C8B-B14F-4D97-AF65-F5344CB8AC3E}">
        <p14:creationId xmlns:p14="http://schemas.microsoft.com/office/powerpoint/2010/main" val="1478246730"/>
      </p:ext>
    </p:extLst>
  </p:cSld>
</p:sld>
</file>

<file path=ppt/slides/slide2.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3A557D45-1DFB-4599-8A45-D4B3B2AABD79}"/>
              </a:ext>
            </a:extLst>
          </p:cNvPr>
          <p:cNvSpPr>
            <a:spLocks xmlns:a="http://schemas.openxmlformats.org/drawingml/2006/main" noGrp="1"/>
          </p:cNvSpPr>
          <p:nvPr/>
        </p:nvSpPr>
        <p:spPr>
          <a:xfrm xmlns:a="http://schemas.openxmlformats.org/drawingml/2006/main">
            <a:off x="609600" y="266700"/>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BD5036"/>
                </a:solidFill>
                <a:latin typeface="Calibri"/>
                <a:ea typeface="Calibri"/>
                <a:cs typeface="Calibri"/>
              </a:defRPr>
            </a:defPPr>
          </a:lstStyle>
          <a:p xmlns:a="http://schemas.openxmlformats.org/drawingml/2006/main">
            <a:pPr>
              <a:buNone/>
              <a:defRPr sz="1275" b="1">
                <a:solidFill>
                  <a:srgbClr val="BD5036"/>
                </a:solidFill>
                <a:latin typeface="Calibri"/>
                <a:ea typeface="Calibri"/>
                <a:cs typeface="Calibri"/>
              </a:defRPr>
            </a:pPr>
            <a:r>
              <a:rPr sz="1275" b="1">
                <a:solidFill>
                  <a:srgbClr val="BD5036"/>
                </a:solidFill>
                <a:latin typeface="Calibri"/>
                <a:ea typeface="Calibri"/>
                <a:cs typeface="Calibri"/>
              </a:rPr>
              <a:t>CS7327  /  MIDTERM PROJECT</a:t>
            </a:r>
          </a:p>
        </p:txBody>
      </p:sp>
      <p:sp>
        <p:nvSpPr>
          <p:cNvPr id="2" name="">
            <a:extLst xmlns:a="http://schemas.openxmlformats.org/drawingml/2006/main">
              <a:ext uri="{FF2B5EF4-FFF2-40B4-BE49-F238E27FC236}">
                <a16:creationId xmlns:a16="http://schemas.microsoft.com/office/drawing/2014/main" id="{D551D9F6-BBF1-43B6-934C-B4C4C8162D95}"/>
              </a:ext>
            </a:extLst>
          </p:cNvPr>
          <p:cNvSpPr>
            <a:spLocks xmlns:a="http://schemas.openxmlformats.org/drawingml/2006/main" noGrp="1"/>
          </p:cNvSpPr>
          <p:nvPr/>
        </p:nvSpPr>
        <p:spPr>
          <a:xfrm xmlns:a="http://schemas.openxmlformats.org/drawingml/2006/main">
            <a:off x="609600" y="781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3D36"/>
                </a:solidFill>
                <a:latin typeface="Calibri"/>
                <a:ea typeface="Calibri"/>
                <a:cs typeface="Calibri"/>
              </a:defRPr>
            </a:defPPr>
          </a:lstStyle>
          <a:p xmlns:a="http://schemas.openxmlformats.org/drawingml/2006/main">
            <a:pPr>
              <a:buNone/>
              <a:defRPr sz="3225" b="1">
                <a:solidFill>
                  <a:srgbClr val="183D36"/>
                </a:solidFill>
                <a:latin typeface="Calibri"/>
                <a:ea typeface="Calibri"/>
                <a:cs typeface="Calibri"/>
              </a:defRPr>
            </a:pPr>
            <a:r>
              <a:rPr sz="3225" b="1">
                <a:solidFill>
                  <a:srgbClr val="183D36"/>
                </a:solidFill>
                <a:latin typeface="Calibri"/>
                <a:ea typeface="Calibri"/>
                <a:cs typeface="Calibri"/>
              </a:rPr>
              <a:t>Two models and parallel diagnostics</a:t>
            </a:r>
          </a:p>
        </p:txBody>
      </p:sp>
      <p:sp>
        <p:nvSpPr>
          <p:cNvPr id="3" name="">
            <a:extLst xmlns:a="http://schemas.openxmlformats.org/drawingml/2006/main">
              <a:ext uri="{FF2B5EF4-FFF2-40B4-BE49-F238E27FC236}">
                <a16:creationId xmlns:a16="http://schemas.microsoft.com/office/drawing/2014/main" id="{F62F61F6-50AE-4C2C-9563-CC11A30C6C6A}"/>
              </a:ext>
            </a:extLst>
          </p:cNvPr>
          <p:cNvSpPr>
            <a:spLocks xmlns:a="http://schemas.openxmlformats.org/drawingml/2006/main" noGrp="1"/>
          </p:cNvSpPr>
          <p:nvPr/>
        </p:nvSpPr>
        <p:spPr>
          <a:xfrm xmlns:a="http://schemas.openxmlformats.org/drawingml/2006/main">
            <a:off x="609600" y="6286500"/>
            <a:ext cx="10972800" cy="19050"/>
          </a:xfrm>
          <a:prstGeom xmlns:a="http://schemas.openxmlformats.org/drawingml/2006/main" prst="rect">
            <a:avLst/>
          </a:prstGeom>
          <a:solidFill xmlns:a="http://schemas.openxmlformats.org/drawingml/2006/main">
            <a:srgbClr val="183D3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43A1BCC-6C34-4E11-AD89-459F01377568}"/>
              </a:ext>
            </a:extLst>
          </p:cNvPr>
          <p:cNvSpPr>
            <a:spLocks xmlns:a="http://schemas.openxmlformats.org/drawingml/2006/main" noGrp="1"/>
          </p:cNvSpPr>
          <p:nvPr/>
        </p:nvSpPr>
        <p:spPr>
          <a:xfrm xmlns:a="http://schemas.openxmlformats.org/drawingml/2006/main">
            <a:off x="609600" y="6410325"/>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5766F"/>
                </a:solidFill>
                <a:latin typeface="Calibri"/>
                <a:ea typeface="Calibri"/>
                <a:cs typeface="Calibri"/>
              </a:defRPr>
            </a:defPPr>
          </a:lstStyle>
          <a:p xmlns:a="http://schemas.openxmlformats.org/drawingml/2006/main">
            <a:pPr>
              <a:buNone/>
              <a:defRPr sz="1275" b="0">
                <a:solidFill>
                  <a:srgbClr val="65766F"/>
                </a:solidFill>
                <a:latin typeface="Calibri"/>
                <a:ea typeface="Calibri"/>
                <a:cs typeface="Calibri"/>
              </a:defRPr>
            </a:pPr>
            <a:r>
              <a:rPr sz="1275" b="0">
                <a:solidFill>
                  <a:srgbClr val="65766F"/>
                </a:solidFill>
                <a:latin typeface="Calibri"/>
                <a:ea typeface="Calibri"/>
                <a:cs typeface="Calibri"/>
              </a:rPr>
              <a:t>Jingcheng Zhou and Junliang Lyu</a:t>
            </a:r>
          </a:p>
        </p:txBody>
      </p:sp>
      <p:sp>
        <p:nvSpPr>
          <p:cNvPr id="5" name="">
            <a:extLst xmlns:a="http://schemas.openxmlformats.org/drawingml/2006/main">
              <a:ext uri="{FF2B5EF4-FFF2-40B4-BE49-F238E27FC236}">
                <a16:creationId xmlns:a16="http://schemas.microsoft.com/office/drawing/2014/main" id="{4EA23B40-4CA9-4589-8B98-71D16AFEFD89}"/>
              </a:ext>
            </a:extLst>
          </p:cNvPr>
          <p:cNvSpPr>
            <a:spLocks xmlns:a="http://schemas.openxmlformats.org/drawingml/2006/main" noGrp="1"/>
          </p:cNvSpPr>
          <p:nvPr/>
        </p:nvSpPr>
        <p:spPr>
          <a:xfrm xmlns:a="http://schemas.openxmlformats.org/drawingml/2006/main">
            <a:off x="10953750" y="641032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5766F"/>
                </a:solidFill>
                <a:latin typeface="Calibri"/>
                <a:ea typeface="Calibri"/>
                <a:cs typeface="Calibri"/>
              </a:defRPr>
            </a:defPPr>
          </a:lstStyle>
          <a:p xmlns:a="http://schemas.openxmlformats.org/drawingml/2006/main">
            <a:pPr>
              <a:buNone/>
              <a:defRPr sz="1275" b="0">
                <a:solidFill>
                  <a:srgbClr val="65766F"/>
                </a:solidFill>
                <a:latin typeface="Calibri"/>
                <a:ea typeface="Calibri"/>
                <a:cs typeface="Calibri"/>
              </a:defRPr>
            </a:pPr>
            <a:r>
              <a:rPr sz="1275" b="0">
                <a:solidFill>
                  <a:srgbClr val="65766F"/>
                </a:solidFill>
                <a:latin typeface="Calibri"/>
                <a:ea typeface="Calibri"/>
                <a:cs typeface="Calibri"/>
              </a:rPr>
              <a:t>2 / 5</a:t>
            </a:r>
          </a:p>
        </p:txBody>
      </p:sp>
      <p:sp>
        <p:nvSpPr>
          <p:cNvPr id="6" name="">
            <a:extLst xmlns:a="http://schemas.openxmlformats.org/drawingml/2006/main">
              <a:ext uri="{FF2B5EF4-FFF2-40B4-BE49-F238E27FC236}">
                <a16:creationId xmlns:a16="http://schemas.microsoft.com/office/drawing/2014/main" id="{1A027465-F07D-47D9-928A-C3E589970361}"/>
              </a:ext>
            </a:extLst>
          </p:cNvPr>
          <p:cNvSpPr>
            <a:spLocks xmlns:a="http://schemas.openxmlformats.org/drawingml/2006/main" noGrp="1"/>
          </p:cNvSpPr>
          <p:nvPr/>
        </p:nvSpPr>
        <p:spPr>
          <a:xfrm xmlns:a="http://schemas.openxmlformats.org/drawingml/2006/main">
            <a:off x="609600" y="1876425"/>
            <a:ext cx="3267075" cy="1257300"/>
          </a:xfrm>
          <a:prstGeom xmlns:a="http://schemas.openxmlformats.org/drawingml/2006/main" prst="rect">
            <a:avLst/>
          </a:prstGeom>
          <a:solidFill xmlns:a="http://schemas.openxmlformats.org/drawingml/2006/main">
            <a:srgbClr val="E9E7F6"/>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EC1C8071-BD3C-407D-9FDE-057E75B08D0E}"/>
              </a:ext>
            </a:extLst>
          </p:cNvPr>
          <p:cNvSpPr>
            <a:spLocks xmlns:a="http://schemas.openxmlformats.org/drawingml/2006/main" noGrp="1"/>
          </p:cNvSpPr>
          <p:nvPr/>
        </p:nvSpPr>
        <p:spPr>
          <a:xfrm xmlns:a="http://schemas.openxmlformats.org/drawingml/2006/main">
            <a:off x="800100" y="2009775"/>
            <a:ext cx="2876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83D36"/>
                </a:solidFill>
                <a:latin typeface="Calibri"/>
                <a:ea typeface="Calibri"/>
                <a:cs typeface="Calibri"/>
              </a:defRPr>
            </a:defPPr>
          </a:lstStyle>
          <a:p xmlns:a="http://schemas.openxmlformats.org/drawingml/2006/main">
            <a:pPr>
              <a:buNone/>
              <a:defRPr sz="2250" b="1">
                <a:solidFill>
                  <a:srgbClr val="183D36"/>
                </a:solidFill>
                <a:latin typeface="Calibri"/>
                <a:ea typeface="Calibri"/>
                <a:cs typeface="Calibri"/>
              </a:defRPr>
            </a:pPr>
            <a:r>
              <a:rPr sz="2250" b="1">
                <a:solidFill>
                  <a:srgbClr val="183D36"/>
                </a:solidFill>
                <a:latin typeface="Calibri"/>
                <a:ea typeface="Calibri"/>
                <a:cs typeface="Calibri"/>
              </a:rPr>
              <a:t>A / Qwen3:8b</a:t>
            </a:r>
          </a:p>
        </p:txBody>
      </p:sp>
      <p:sp>
        <p:nvSpPr>
          <p:cNvPr id="8" name="">
            <a:extLst xmlns:a="http://schemas.openxmlformats.org/drawingml/2006/main">
              <a:ext uri="{FF2B5EF4-FFF2-40B4-BE49-F238E27FC236}">
                <a16:creationId xmlns:a16="http://schemas.microsoft.com/office/drawing/2014/main" id="{0ADBF015-3773-4EB9-A5BE-1750FCB41314}"/>
              </a:ext>
            </a:extLst>
          </p:cNvPr>
          <p:cNvSpPr>
            <a:spLocks xmlns:a="http://schemas.openxmlformats.org/drawingml/2006/main" noGrp="1"/>
          </p:cNvSpPr>
          <p:nvPr/>
        </p:nvSpPr>
        <p:spPr>
          <a:xfrm xmlns:a="http://schemas.openxmlformats.org/drawingml/2006/main">
            <a:off x="800100" y="2476500"/>
            <a:ext cx="28765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83D36"/>
                </a:solidFill>
                <a:latin typeface="Calibri"/>
                <a:ea typeface="Calibri"/>
                <a:cs typeface="Calibri"/>
              </a:defRPr>
            </a:defPPr>
          </a:lstStyle>
          <a:p xmlns:a="http://schemas.openxmlformats.org/drawingml/2006/main">
            <a:pPr>
              <a:buNone/>
              <a:defRPr sz="1875" b="0">
                <a:solidFill>
                  <a:srgbClr val="183D36"/>
                </a:solidFill>
                <a:latin typeface="Calibri"/>
                <a:ea typeface="Calibri"/>
                <a:cs typeface="Calibri"/>
              </a:defRPr>
            </a:pPr>
            <a:r>
              <a:rPr sz="1875" b="0">
                <a:solidFill>
                  <a:srgbClr val="183D36"/>
                </a:solidFill>
                <a:latin typeface="Calibri"/>
                <a:ea typeface="Calibri"/>
                <a:cs typeface="Calibri"/>
              </a:rPr>
              <a:t>Plan, diagnose and draft</a:t>
            </a:r>
          </a:p>
          <a:p xmlns:a="http://schemas.openxmlformats.org/drawingml/2006/main">
            <a:pPr>
              <a:buNone/>
              <a:defRPr sz="1875" b="0">
                <a:solidFill>
                  <a:srgbClr val="183D36"/>
                </a:solidFill>
                <a:latin typeface="Calibri"/>
                <a:ea typeface="Calibri"/>
                <a:cs typeface="Calibri"/>
              </a:defRPr>
            </a:pPr>
            <a:r>
              <a:rPr sz="1875" b="0">
                <a:solidFill>
                  <a:srgbClr val="183D36"/>
                </a:solidFill>
                <a:latin typeface="Calibri"/>
                <a:ea typeface="Calibri"/>
                <a:cs typeface="Calibri"/>
              </a:rPr>
              <a:t>Revise from feedback</a:t>
            </a:r>
          </a:p>
        </p:txBody>
      </p:sp>
      <p:sp>
        <p:nvSpPr>
          <p:cNvPr id="9" name="">
            <a:extLst xmlns:a="http://schemas.openxmlformats.org/drawingml/2006/main">
              <a:ext uri="{FF2B5EF4-FFF2-40B4-BE49-F238E27FC236}">
                <a16:creationId xmlns:a16="http://schemas.microsoft.com/office/drawing/2014/main" id="{1F907B2A-1B90-41C1-9841-0AEC4050D8B8}"/>
              </a:ext>
            </a:extLst>
          </p:cNvPr>
          <p:cNvSpPr>
            <a:spLocks xmlns:a="http://schemas.openxmlformats.org/drawingml/2006/main" noGrp="1"/>
          </p:cNvSpPr>
          <p:nvPr/>
        </p:nvSpPr>
        <p:spPr>
          <a:xfrm xmlns:a="http://schemas.openxmlformats.org/drawingml/2006/main">
            <a:off x="4038600" y="2352675"/>
            <a:ext cx="457200" cy="209550"/>
          </a:xfrm>
          <a:prstGeom xmlns:a="http://schemas.openxmlformats.org/drawingml/2006/main" prst="rightArrow">
            <a:avLst/>
          </a:prstGeom>
          <a:solidFill xmlns:a="http://schemas.openxmlformats.org/drawingml/2006/main">
            <a:srgbClr val="65766F"/>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BA19ED9-2614-49BF-8F7F-596C7893FE73}"/>
              </a:ext>
            </a:extLst>
          </p:cNvPr>
          <p:cNvSpPr>
            <a:spLocks xmlns:a="http://schemas.openxmlformats.org/drawingml/2006/main" noGrp="1"/>
          </p:cNvSpPr>
          <p:nvPr/>
        </p:nvSpPr>
        <p:spPr>
          <a:xfrm xmlns:a="http://schemas.openxmlformats.org/drawingml/2006/main">
            <a:off x="4648200" y="1876425"/>
            <a:ext cx="2886075" cy="1257300"/>
          </a:xfrm>
          <a:prstGeom xmlns:a="http://schemas.openxmlformats.org/drawingml/2006/main" prst="rect">
            <a:avLst/>
          </a:prstGeom>
          <a:solidFill xmlns:a="http://schemas.openxmlformats.org/drawingml/2006/main">
            <a:srgbClr val="E9EEE5"/>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6FC03B4-D0FC-4C3F-A664-9194500637B9}"/>
              </a:ext>
            </a:extLst>
          </p:cNvPr>
          <p:cNvSpPr>
            <a:spLocks xmlns:a="http://schemas.openxmlformats.org/drawingml/2006/main" noGrp="1"/>
          </p:cNvSpPr>
          <p:nvPr/>
        </p:nvSpPr>
        <p:spPr>
          <a:xfrm xmlns:a="http://schemas.openxmlformats.org/drawingml/2006/main">
            <a:off x="4829175" y="2009775"/>
            <a:ext cx="2524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83D36"/>
                </a:solidFill>
                <a:latin typeface="Calibri"/>
                <a:ea typeface="Calibri"/>
                <a:cs typeface="Calibri"/>
              </a:defRPr>
            </a:defPPr>
          </a:lstStyle>
          <a:p xmlns:a="http://schemas.openxmlformats.org/drawingml/2006/main">
            <a:pPr>
              <a:buNone/>
              <a:defRPr sz="2250" b="1">
                <a:solidFill>
                  <a:srgbClr val="183D36"/>
                </a:solidFill>
                <a:latin typeface="Calibri"/>
                <a:ea typeface="Calibri"/>
                <a:cs typeface="Calibri"/>
              </a:defRPr>
            </a:pPr>
            <a:r>
              <a:rPr sz="2250" b="1">
                <a:solidFill>
                  <a:srgbClr val="183D36"/>
                </a:solidFill>
                <a:latin typeface="Calibri"/>
                <a:ea typeface="Calibri"/>
                <a:cs typeface="Calibri"/>
              </a:rPr>
              <a:t>Python / SciPy</a:t>
            </a:r>
          </a:p>
        </p:txBody>
      </p:sp>
      <p:sp>
        <p:nvSpPr>
          <p:cNvPr id="12" name="">
            <a:extLst xmlns:a="http://schemas.openxmlformats.org/drawingml/2006/main">
              <a:ext uri="{FF2B5EF4-FFF2-40B4-BE49-F238E27FC236}">
                <a16:creationId xmlns:a16="http://schemas.microsoft.com/office/drawing/2014/main" id="{7BB7A358-0C54-4AB5-A9C0-08A198AD4304}"/>
              </a:ext>
            </a:extLst>
          </p:cNvPr>
          <p:cNvSpPr>
            <a:spLocks xmlns:a="http://schemas.openxmlformats.org/drawingml/2006/main" noGrp="1"/>
          </p:cNvSpPr>
          <p:nvPr/>
        </p:nvSpPr>
        <p:spPr>
          <a:xfrm xmlns:a="http://schemas.openxmlformats.org/drawingml/2006/main">
            <a:off x="4829175" y="2476500"/>
            <a:ext cx="25431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83D36"/>
                </a:solidFill>
                <a:latin typeface="Calibri"/>
                <a:ea typeface="Calibri"/>
                <a:cs typeface="Calibri"/>
              </a:defRPr>
            </a:defPPr>
          </a:lstStyle>
          <a:p xmlns:a="http://schemas.openxmlformats.org/drawingml/2006/main">
            <a:pPr>
              <a:buNone/>
              <a:defRPr sz="1875" b="0">
                <a:solidFill>
                  <a:srgbClr val="183D36"/>
                </a:solidFill>
                <a:latin typeface="Calibri"/>
                <a:ea typeface="Calibri"/>
                <a:cs typeface="Calibri"/>
              </a:defRPr>
            </a:pPr>
            <a:r>
              <a:rPr sz="1875" b="0">
                <a:solidFill>
                  <a:srgbClr val="183D36"/>
                </a:solidFill>
                <a:latin typeface="Calibri"/>
                <a:ea typeface="Calibri"/>
                <a:cs typeface="Calibri"/>
              </a:rPr>
              <a:t>Checks + calculations</a:t>
            </a:r>
          </a:p>
          <a:p xmlns:a="http://schemas.openxmlformats.org/drawingml/2006/main">
            <a:pPr>
              <a:buNone/>
              <a:defRPr sz="1875" b="0">
                <a:solidFill>
                  <a:srgbClr val="183D36"/>
                </a:solidFill>
                <a:latin typeface="Calibri"/>
                <a:ea typeface="Calibri"/>
                <a:cs typeface="Calibri"/>
              </a:defRPr>
            </a:pPr>
            <a:r>
              <a:rPr sz="1875" b="0">
                <a:solidFill>
                  <a:srgbClr val="183D36"/>
                </a:solidFill>
                <a:latin typeface="Calibri"/>
                <a:ea typeface="Calibri"/>
                <a:cs typeface="Calibri"/>
              </a:rPr>
              <a:t>Protected numbers</a:t>
            </a:r>
          </a:p>
        </p:txBody>
      </p:sp>
      <p:sp>
        <p:nvSpPr>
          <p:cNvPr id="13" name="">
            <a:extLst xmlns:a="http://schemas.openxmlformats.org/drawingml/2006/main">
              <a:ext uri="{FF2B5EF4-FFF2-40B4-BE49-F238E27FC236}">
                <a16:creationId xmlns:a16="http://schemas.microsoft.com/office/drawing/2014/main" id="{C0E1AA79-7951-4F65-92F1-D5BE2BDFBB57}"/>
              </a:ext>
            </a:extLst>
          </p:cNvPr>
          <p:cNvSpPr>
            <a:spLocks xmlns:a="http://schemas.openxmlformats.org/drawingml/2006/main" noGrp="1"/>
          </p:cNvSpPr>
          <p:nvPr/>
        </p:nvSpPr>
        <p:spPr>
          <a:xfrm xmlns:a="http://schemas.openxmlformats.org/drawingml/2006/main">
            <a:off x="7715250" y="2352675"/>
            <a:ext cx="457200" cy="209550"/>
          </a:xfrm>
          <a:prstGeom xmlns:a="http://schemas.openxmlformats.org/drawingml/2006/main" prst="rightArrow">
            <a:avLst/>
          </a:prstGeom>
          <a:solidFill xmlns:a="http://schemas.openxmlformats.org/drawingml/2006/main">
            <a:srgbClr val="65766F"/>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E8F48ED-029E-4BFD-B076-1337E46DD02A}"/>
              </a:ext>
            </a:extLst>
          </p:cNvPr>
          <p:cNvSpPr>
            <a:spLocks xmlns:a="http://schemas.openxmlformats.org/drawingml/2006/main" noGrp="1"/>
          </p:cNvSpPr>
          <p:nvPr/>
        </p:nvSpPr>
        <p:spPr>
          <a:xfrm xmlns:a="http://schemas.openxmlformats.org/drawingml/2006/main">
            <a:off x="8334375" y="1876425"/>
            <a:ext cx="3248025" cy="1257300"/>
          </a:xfrm>
          <a:prstGeom xmlns:a="http://schemas.openxmlformats.org/drawingml/2006/main" prst="rect">
            <a:avLst/>
          </a:prstGeom>
          <a:solidFill xmlns:a="http://schemas.openxmlformats.org/drawingml/2006/main">
            <a:srgbClr val="E9E7F6"/>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C4A24AE-5579-4E3C-9EBF-FFEC9EC48069}"/>
              </a:ext>
            </a:extLst>
          </p:cNvPr>
          <p:cNvSpPr>
            <a:spLocks xmlns:a="http://schemas.openxmlformats.org/drawingml/2006/main" noGrp="1"/>
          </p:cNvSpPr>
          <p:nvPr/>
        </p:nvSpPr>
        <p:spPr>
          <a:xfrm xmlns:a="http://schemas.openxmlformats.org/drawingml/2006/main">
            <a:off x="8524875" y="2009775"/>
            <a:ext cx="2876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83D36"/>
                </a:solidFill>
                <a:latin typeface="Calibri"/>
                <a:ea typeface="Calibri"/>
                <a:cs typeface="Calibri"/>
              </a:defRPr>
            </a:defPPr>
          </a:lstStyle>
          <a:p xmlns:a="http://schemas.openxmlformats.org/drawingml/2006/main">
            <a:pPr>
              <a:buNone/>
              <a:defRPr sz="2250" b="1">
                <a:solidFill>
                  <a:srgbClr val="183D36"/>
                </a:solidFill>
                <a:latin typeface="Calibri"/>
                <a:ea typeface="Calibri"/>
                <a:cs typeface="Calibri"/>
              </a:defRPr>
            </a:pPr>
            <a:r>
              <a:rPr sz="2250" b="1">
                <a:solidFill>
                  <a:srgbClr val="183D36"/>
                </a:solidFill>
                <a:latin typeface="Calibri"/>
                <a:ea typeface="Calibri"/>
                <a:cs typeface="Calibri"/>
              </a:rPr>
              <a:t>B / Gemma3:12b</a:t>
            </a:r>
          </a:p>
        </p:txBody>
      </p:sp>
      <p:sp>
        <p:nvSpPr>
          <p:cNvPr id="16" name="">
            <a:extLst xmlns:a="http://schemas.openxmlformats.org/drawingml/2006/main">
              <a:ext uri="{FF2B5EF4-FFF2-40B4-BE49-F238E27FC236}">
                <a16:creationId xmlns:a16="http://schemas.microsoft.com/office/drawing/2014/main" id="{501B0EF9-37B9-4E46-B7F5-BF11B538C110}"/>
              </a:ext>
            </a:extLst>
          </p:cNvPr>
          <p:cNvSpPr>
            <a:spLocks xmlns:a="http://schemas.openxmlformats.org/drawingml/2006/main" noGrp="1"/>
          </p:cNvSpPr>
          <p:nvPr/>
        </p:nvSpPr>
        <p:spPr>
          <a:xfrm xmlns:a="http://schemas.openxmlformats.org/drawingml/2006/main">
            <a:off x="8524875" y="2476500"/>
            <a:ext cx="28670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83D36"/>
                </a:solidFill>
                <a:latin typeface="Calibri"/>
                <a:ea typeface="Calibri"/>
                <a:cs typeface="Calibri"/>
              </a:defRPr>
            </a:defPPr>
          </a:lstStyle>
          <a:p xmlns:a="http://schemas.openxmlformats.org/drawingml/2006/main">
            <a:pPr>
              <a:buNone/>
              <a:defRPr sz="1875" b="0">
                <a:solidFill>
                  <a:srgbClr val="183D36"/>
                </a:solidFill>
                <a:latin typeface="Calibri"/>
                <a:ea typeface="Calibri"/>
                <a:cs typeface="Calibri"/>
              </a:defRPr>
            </a:pPr>
            <a:r>
              <a:rPr sz="1875" b="0">
                <a:solidFill>
                  <a:srgbClr val="183D36"/>
                </a:solidFill>
                <a:latin typeface="Calibri"/>
                <a:ea typeface="Calibri"/>
                <a:cs typeface="Calibri"/>
              </a:rPr>
              <a:t>Original evidence + draft</a:t>
            </a:r>
          </a:p>
          <a:p xmlns:a="http://schemas.openxmlformats.org/drawingml/2006/main">
            <a:pPr>
              <a:buNone/>
              <a:defRPr sz="1875" b="0">
                <a:solidFill>
                  <a:srgbClr val="183D36"/>
                </a:solidFill>
                <a:latin typeface="Calibri"/>
                <a:ea typeface="Calibri"/>
                <a:cs typeface="Calibri"/>
              </a:defRPr>
            </a:pPr>
            <a:r>
              <a:rPr sz="1875" b="0">
                <a:solidFill>
                  <a:srgbClr val="183D36"/>
                </a:solidFill>
                <a:latin typeface="Calibri"/>
                <a:ea typeface="Calibri"/>
                <a:cs typeface="Calibri"/>
              </a:rPr>
              <a:t>Review statistical meaning</a:t>
            </a:r>
          </a:p>
        </p:txBody>
      </p:sp>
      <p:sp>
        <p:nvSpPr>
          <p:cNvPr id="17" name="">
            <a:extLst xmlns:a="http://schemas.openxmlformats.org/drawingml/2006/main">
              <a:ext uri="{FF2B5EF4-FFF2-40B4-BE49-F238E27FC236}">
                <a16:creationId xmlns:a16="http://schemas.microsoft.com/office/drawing/2014/main" id="{AA38B787-9497-4D3F-81F3-47A3873A88B6}"/>
              </a:ext>
            </a:extLst>
          </p:cNvPr>
          <p:cNvSpPr>
            <a:spLocks xmlns:a="http://schemas.openxmlformats.org/drawingml/2006/main" noGrp="1"/>
          </p:cNvSpPr>
          <p:nvPr/>
        </p:nvSpPr>
        <p:spPr>
          <a:xfrm xmlns:a="http://schemas.openxmlformats.org/drawingml/2006/main">
            <a:off x="609600" y="3581400"/>
            <a:ext cx="32670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83D36"/>
                </a:solidFill>
                <a:latin typeface="Calibri"/>
                <a:ea typeface="Calibri"/>
                <a:cs typeface="Calibri"/>
              </a:defRPr>
            </a:defPPr>
          </a:lstStyle>
          <a:p xmlns:a="http://schemas.openxmlformats.org/drawingml/2006/main">
            <a:pPr>
              <a:buNone/>
              <a:defRPr sz="2025" b="1">
                <a:solidFill>
                  <a:srgbClr val="183D36"/>
                </a:solidFill>
                <a:latin typeface="Calibri"/>
                <a:ea typeface="Calibri"/>
                <a:cs typeface="Calibri"/>
              </a:defRPr>
            </a:pPr>
            <a:r>
              <a:rPr sz="2025" b="1">
                <a:solidFill>
                  <a:srgbClr val="183D36"/>
                </a:solidFill>
                <a:latin typeface="Calibri"/>
                <a:ea typeface="Calibri"/>
                <a:cs typeface="Calibri"/>
              </a:rPr>
              <a:t>Parallel diagnosis</a:t>
            </a:r>
          </a:p>
        </p:txBody>
      </p:sp>
      <p:sp>
        <p:nvSpPr>
          <p:cNvPr id="18" name="">
            <a:extLst xmlns:a="http://schemas.openxmlformats.org/drawingml/2006/main">
              <a:ext uri="{FF2B5EF4-FFF2-40B4-BE49-F238E27FC236}">
                <a16:creationId xmlns:a16="http://schemas.microsoft.com/office/drawing/2014/main" id="{850D3F2B-E4BB-40F5-BE0B-A3C0DDE24E25}"/>
              </a:ext>
            </a:extLst>
          </p:cNvPr>
          <p:cNvSpPr>
            <a:spLocks xmlns:a="http://schemas.openxmlformats.org/drawingml/2006/main" noGrp="1"/>
          </p:cNvSpPr>
          <p:nvPr/>
        </p:nvSpPr>
        <p:spPr>
          <a:xfrm xmlns:a="http://schemas.openxmlformats.org/drawingml/2006/main">
            <a:off x="609600" y="4038600"/>
            <a:ext cx="334327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83D36"/>
                </a:solidFill>
                <a:latin typeface="Calibri"/>
                <a:ea typeface="Calibri"/>
                <a:cs typeface="Calibri"/>
              </a:defRPr>
            </a:defPPr>
          </a:lstStyle>
          <a:p xmlns:a="http://schemas.openxmlformats.org/drawingml/2006/main">
            <a:pPr>
              <a:buNone/>
              <a:defRPr sz="1875" b="0">
                <a:solidFill>
                  <a:srgbClr val="183D36"/>
                </a:solidFill>
                <a:latin typeface="Calibri"/>
                <a:ea typeface="Calibri"/>
                <a:cs typeface="Calibri"/>
              </a:defRPr>
            </a:pPr>
            <a:r>
              <a:rPr sz="1875" b="0">
                <a:solidFill>
                  <a:srgbClr val="183D36"/>
                </a:solidFill>
                <a:latin typeface="Calibri"/>
                <a:ea typeface="Calibri"/>
                <a:cs typeface="Calibri"/>
              </a:rPr>
              <a:t>LLM semantics + Python</a:t>
            </a:r>
          </a:p>
          <a:p xmlns:a="http://schemas.openxmlformats.org/drawingml/2006/main">
            <a:pPr>
              <a:buNone/>
              <a:defRPr sz="1875" b="0">
                <a:solidFill>
                  <a:srgbClr val="183D36"/>
                </a:solidFill>
                <a:latin typeface="Calibri"/>
                <a:ea typeface="Calibri"/>
                <a:cs typeface="Calibri"/>
              </a:defRPr>
            </a:pPr>
            <a:r>
              <a:rPr sz="1875" b="0">
                <a:solidFill>
                  <a:srgbClr val="183D36"/>
                </a:solidFill>
                <a:latin typeface="Calibri"/>
                <a:ea typeface="Calibri"/>
                <a:cs typeface="Calibri"/>
              </a:rPr>
              <a:t>Data checks run together</a:t>
            </a:r>
          </a:p>
        </p:txBody>
      </p:sp>
      <p:sp>
        <p:nvSpPr>
          <p:cNvPr id="19" name="">
            <a:extLst xmlns:a="http://schemas.openxmlformats.org/drawingml/2006/main">
              <a:ext uri="{FF2B5EF4-FFF2-40B4-BE49-F238E27FC236}">
                <a16:creationId xmlns:a16="http://schemas.microsoft.com/office/drawing/2014/main" id="{B424278F-456A-43BD-A327-045D04923505}"/>
              </a:ext>
            </a:extLst>
          </p:cNvPr>
          <p:cNvSpPr>
            <a:spLocks xmlns:a="http://schemas.openxmlformats.org/drawingml/2006/main" noGrp="1"/>
          </p:cNvSpPr>
          <p:nvPr/>
        </p:nvSpPr>
        <p:spPr>
          <a:xfrm xmlns:a="http://schemas.openxmlformats.org/drawingml/2006/main">
            <a:off x="4648200" y="3581400"/>
            <a:ext cx="33432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83D36"/>
                </a:solidFill>
                <a:latin typeface="Calibri"/>
                <a:ea typeface="Calibri"/>
                <a:cs typeface="Calibri"/>
              </a:defRPr>
            </a:defPPr>
          </a:lstStyle>
          <a:p xmlns:a="http://schemas.openxmlformats.org/drawingml/2006/main">
            <a:pPr>
              <a:buNone/>
              <a:defRPr sz="2025" b="1">
                <a:solidFill>
                  <a:srgbClr val="183D36"/>
                </a:solidFill>
                <a:latin typeface="Calibri"/>
                <a:ea typeface="Calibri"/>
                <a:cs typeface="Calibri"/>
              </a:defRPr>
            </a:pPr>
            <a:r>
              <a:rPr sz="2025" b="1">
                <a:solidFill>
                  <a:srgbClr val="183D36"/>
                </a:solidFill>
                <a:latin typeface="Calibri"/>
                <a:ea typeface="Calibri"/>
                <a:cs typeface="Calibri"/>
              </a:rPr>
              <a:t>Data issue?</a:t>
            </a:r>
          </a:p>
        </p:txBody>
      </p:sp>
      <p:sp>
        <p:nvSpPr>
          <p:cNvPr id="20" name="">
            <a:extLst xmlns:a="http://schemas.openxmlformats.org/drawingml/2006/main">
              <a:ext uri="{FF2B5EF4-FFF2-40B4-BE49-F238E27FC236}">
                <a16:creationId xmlns:a16="http://schemas.microsoft.com/office/drawing/2014/main" id="{0AB10A83-4053-4BC6-B254-C9AC630C403C}"/>
              </a:ext>
            </a:extLst>
          </p:cNvPr>
          <p:cNvSpPr>
            <a:spLocks xmlns:a="http://schemas.openxmlformats.org/drawingml/2006/main" noGrp="1"/>
          </p:cNvSpPr>
          <p:nvPr/>
        </p:nvSpPr>
        <p:spPr>
          <a:xfrm xmlns:a="http://schemas.openxmlformats.org/drawingml/2006/main">
            <a:off x="4648200" y="4038600"/>
            <a:ext cx="3286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83D36"/>
                </a:solidFill>
                <a:latin typeface="Calibri"/>
                <a:ea typeface="Calibri"/>
                <a:cs typeface="Calibri"/>
              </a:defRPr>
            </a:defPPr>
          </a:lstStyle>
          <a:p xmlns:a="http://schemas.openxmlformats.org/drawingml/2006/main">
            <a:pPr>
              <a:buNone/>
              <a:defRPr sz="1875" b="0">
                <a:solidFill>
                  <a:srgbClr val="183D36"/>
                </a:solidFill>
                <a:latin typeface="Calibri"/>
                <a:ea typeface="Calibri"/>
                <a:cs typeface="Calibri"/>
              </a:defRPr>
            </a:pPr>
            <a:r>
              <a:rPr sz="1875" b="0">
                <a:solidFill>
                  <a:srgbClr val="183D36"/>
                </a:solidFill>
                <a:latin typeface="Calibri"/>
                <a:ea typeface="Calibri"/>
                <a:cs typeface="Calibri"/>
              </a:rPr>
              <a:t>Pause for confirmed changes</a:t>
            </a:r>
          </a:p>
          <a:p xmlns:a="http://schemas.openxmlformats.org/drawingml/2006/main">
            <a:pPr>
              <a:buNone/>
              <a:defRPr sz="1875" b="0">
                <a:solidFill>
                  <a:srgbClr val="183D36"/>
                </a:solidFill>
                <a:latin typeface="Calibri"/>
                <a:ea typeface="Calibri"/>
                <a:cs typeface="Calibri"/>
              </a:defRPr>
            </a:pPr>
            <a:r>
              <a:rPr sz="1875" b="0">
                <a:solidFill>
                  <a:srgbClr val="183D36"/>
                </a:solidFill>
                <a:latin typeface="Calibri"/>
                <a:ea typeface="Calibri"/>
                <a:cs typeface="Calibri"/>
              </a:rPr>
              <a:t>Record decisions and versions</a:t>
            </a:r>
          </a:p>
        </p:txBody>
      </p:sp>
      <p:sp>
        <p:nvSpPr>
          <p:cNvPr id="21" name="">
            <a:extLst xmlns:a="http://schemas.openxmlformats.org/drawingml/2006/main">
              <a:ext uri="{FF2B5EF4-FFF2-40B4-BE49-F238E27FC236}">
                <a16:creationId xmlns:a16="http://schemas.microsoft.com/office/drawing/2014/main" id="{071FC960-CE7D-4A21-84BE-41CE9D454601}"/>
              </a:ext>
            </a:extLst>
          </p:cNvPr>
          <p:cNvSpPr>
            <a:spLocks xmlns:a="http://schemas.openxmlformats.org/drawingml/2006/main" noGrp="1"/>
          </p:cNvSpPr>
          <p:nvPr/>
        </p:nvSpPr>
        <p:spPr>
          <a:xfrm xmlns:a="http://schemas.openxmlformats.org/drawingml/2006/main">
            <a:off x="8334375" y="3581400"/>
            <a:ext cx="3248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83D36"/>
                </a:solidFill>
                <a:latin typeface="Calibri"/>
                <a:ea typeface="Calibri"/>
                <a:cs typeface="Calibri"/>
              </a:defRPr>
            </a:defPPr>
          </a:lstStyle>
          <a:p xmlns:a="http://schemas.openxmlformats.org/drawingml/2006/main">
            <a:pPr>
              <a:buNone/>
              <a:defRPr sz="2025" b="1">
                <a:solidFill>
                  <a:srgbClr val="183D36"/>
                </a:solidFill>
                <a:latin typeface="Calibri"/>
                <a:ea typeface="Calibri"/>
                <a:cs typeface="Calibri"/>
              </a:defRPr>
            </a:pPr>
            <a:r>
              <a:rPr sz="2025" b="1">
                <a:solidFill>
                  <a:srgbClr val="183D36"/>
                </a:solidFill>
                <a:latin typeface="Calibri"/>
                <a:ea typeface="Calibri"/>
                <a:cs typeface="Calibri"/>
              </a:rPr>
              <a:t>Review fails?</a:t>
            </a:r>
          </a:p>
        </p:txBody>
      </p:sp>
      <p:sp>
        <p:nvSpPr>
          <p:cNvPr id="22" name="">
            <a:extLst xmlns:a="http://schemas.openxmlformats.org/drawingml/2006/main">
              <a:ext uri="{FF2B5EF4-FFF2-40B4-BE49-F238E27FC236}">
                <a16:creationId xmlns:a16="http://schemas.microsoft.com/office/drawing/2014/main" id="{91305479-CD04-43C0-834B-9C1195A3480D}"/>
              </a:ext>
            </a:extLst>
          </p:cNvPr>
          <p:cNvSpPr>
            <a:spLocks xmlns:a="http://schemas.openxmlformats.org/drawingml/2006/main" noGrp="1"/>
          </p:cNvSpPr>
          <p:nvPr/>
        </p:nvSpPr>
        <p:spPr>
          <a:xfrm xmlns:a="http://schemas.openxmlformats.org/drawingml/2006/main">
            <a:off x="8334375" y="4038600"/>
            <a:ext cx="32480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83D36"/>
                </a:solidFill>
                <a:latin typeface="Calibri"/>
                <a:ea typeface="Calibri"/>
                <a:cs typeface="Calibri"/>
              </a:defRPr>
            </a:defPPr>
          </a:lstStyle>
          <a:p xmlns:a="http://schemas.openxmlformats.org/drawingml/2006/main">
            <a:pPr>
              <a:buNone/>
              <a:defRPr sz="1875" b="0">
                <a:solidFill>
                  <a:srgbClr val="183D36"/>
                </a:solidFill>
                <a:latin typeface="Calibri"/>
                <a:ea typeface="Calibri"/>
                <a:cs typeface="Calibri"/>
              </a:defRPr>
            </a:pPr>
            <a:r>
              <a:rPr sz="1875" b="0">
                <a:solidFill>
                  <a:srgbClr val="183D36"/>
                </a:solidFill>
                <a:latin typeface="Calibri"/>
                <a:ea typeface="Calibri"/>
                <a:cs typeface="Calibri"/>
              </a:rPr>
              <a:t>Revise once; then stop</a:t>
            </a:r>
          </a:p>
          <a:p xmlns:a="http://schemas.openxmlformats.org/drawingml/2006/main">
            <a:pPr>
              <a:buNone/>
              <a:defRPr sz="1875" b="0">
                <a:solidFill>
                  <a:srgbClr val="183D36"/>
                </a:solidFill>
                <a:latin typeface="Calibri"/>
                <a:ea typeface="Calibri"/>
                <a:cs typeface="Calibri"/>
              </a:defRPr>
            </a:pPr>
            <a:r>
              <a:rPr sz="1875" b="0">
                <a:solidFill>
                  <a:srgbClr val="183D36"/>
                </a:solidFill>
                <a:latin typeface="Calibri"/>
                <a:ea typeface="Calibri"/>
                <a:cs typeface="Calibri"/>
              </a:rPr>
              <a:t>if checks still fail</a:t>
            </a:r>
          </a:p>
        </p:txBody>
      </p:sp>
      <p:sp>
        <p:nvSpPr>
          <p:cNvPr id="23" name="">
            <a:extLst xmlns:a="http://schemas.openxmlformats.org/drawingml/2006/main">
              <a:ext uri="{FF2B5EF4-FFF2-40B4-BE49-F238E27FC236}">
                <a16:creationId xmlns:a16="http://schemas.microsoft.com/office/drawing/2014/main" id="{97120DA5-A099-448E-A50D-1B3EACF9365B}"/>
              </a:ext>
            </a:extLst>
          </p:cNvPr>
          <p:cNvSpPr>
            <a:spLocks xmlns:a="http://schemas.openxmlformats.org/drawingml/2006/main" noGrp="1"/>
          </p:cNvSpPr>
          <p:nvPr/>
        </p:nvSpPr>
        <p:spPr>
          <a:xfrm xmlns:a="http://schemas.openxmlformats.org/drawingml/2006/main">
            <a:off x="609600" y="5133975"/>
            <a:ext cx="10972800" cy="647700"/>
          </a:xfrm>
          <a:prstGeom xmlns:a="http://schemas.openxmlformats.org/drawingml/2006/main" prst="rect">
            <a:avLst/>
          </a:prstGeom>
          <a:solidFill xmlns:a="http://schemas.openxmlformats.org/drawingml/2006/main">
            <a:srgbClr val="183D36"/>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84CE7CB2-552B-45F8-9B9D-56FC4878DC03}"/>
              </a:ext>
            </a:extLst>
          </p:cNvPr>
          <p:cNvSpPr>
            <a:spLocks xmlns:a="http://schemas.openxmlformats.org/drawingml/2006/main" noGrp="1"/>
          </p:cNvSpPr>
          <p:nvPr/>
        </p:nvSpPr>
        <p:spPr>
          <a:xfrm xmlns:a="http://schemas.openxmlformats.org/drawingml/2006/main">
            <a:off x="800100" y="5286375"/>
            <a:ext cx="1057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FFFFFF"/>
                </a:solidFill>
                <a:latin typeface="Calibri"/>
                <a:ea typeface="Calibri"/>
                <a:cs typeface="Calibri"/>
              </a:defRPr>
            </a:defPPr>
          </a:lstStyle>
          <a:p xmlns:a="http://schemas.openxmlformats.org/drawingml/2006/main">
            <a:pPr>
              <a:buNone/>
              <a:defRPr sz="1950" b="0">
                <a:solidFill>
                  <a:srgbClr val="FFFFFF"/>
                </a:solidFill>
                <a:latin typeface="Calibri"/>
                <a:ea typeface="Calibri"/>
                <a:cs typeface="Calibri"/>
              </a:defRPr>
            </a:pPr>
            <a:r>
              <a:rPr sz="1950" b="0">
                <a:solidFill>
                  <a:srgbClr val="FFFFFF"/>
                </a:solidFill>
                <a:latin typeface="Calibri"/>
                <a:ea typeface="Calibri"/>
                <a:cs typeface="Calibri"/>
              </a:rPr>
              <a:t>Reproducible arithmetic, evidence review and visible user decisions</a:t>
            </a:r>
          </a:p>
        </p:txBody>
      </p:sp>
    </p:spTree>
    <p:extLst>
      <p:ext uri="{BB962C8B-B14F-4D97-AF65-F5344CB8AC3E}">
        <p14:creationId xmlns:p14="http://schemas.microsoft.com/office/powerpoint/2010/main" val="1897359595"/>
      </p:ext>
    </p:extLst>
  </p:cSld>
</p:sld>
</file>

<file path=ppt/slides/slide3.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8D86D122-9F2C-4A55-AECC-CBABF7C7A951}"/>
              </a:ext>
            </a:extLst>
          </p:cNvPr>
          <p:cNvSpPr>
            <a:spLocks xmlns:a="http://schemas.openxmlformats.org/drawingml/2006/main" noGrp="1"/>
          </p:cNvSpPr>
          <p:nvPr/>
        </p:nvSpPr>
        <p:spPr>
          <a:xfrm xmlns:a="http://schemas.openxmlformats.org/drawingml/2006/main">
            <a:off x="609600" y="266700"/>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BD5036"/>
                </a:solidFill>
                <a:latin typeface="Calibri"/>
                <a:ea typeface="Calibri"/>
                <a:cs typeface="Calibri"/>
              </a:defRPr>
            </a:defPPr>
          </a:lstStyle>
          <a:p xmlns:a="http://schemas.openxmlformats.org/drawingml/2006/main">
            <a:pPr>
              <a:buNone/>
              <a:defRPr sz="1275" b="1">
                <a:solidFill>
                  <a:srgbClr val="BD5036"/>
                </a:solidFill>
                <a:latin typeface="Calibri"/>
                <a:ea typeface="Calibri"/>
                <a:cs typeface="Calibri"/>
              </a:defRPr>
            </a:pPr>
            <a:r>
              <a:rPr sz="1275" b="1">
                <a:solidFill>
                  <a:srgbClr val="BD5036"/>
                </a:solidFill>
                <a:latin typeface="Calibri"/>
                <a:ea typeface="Calibri"/>
                <a:cs typeface="Calibri"/>
              </a:rPr>
              <a:t>CS7327  /  MIDTERM PROJECT</a:t>
            </a:r>
          </a:p>
        </p:txBody>
      </p:sp>
      <p:sp>
        <p:nvSpPr>
          <p:cNvPr id="2" name="">
            <a:extLst xmlns:a="http://schemas.openxmlformats.org/drawingml/2006/main">
              <a:ext uri="{FF2B5EF4-FFF2-40B4-BE49-F238E27FC236}">
                <a16:creationId xmlns:a16="http://schemas.microsoft.com/office/drawing/2014/main" id="{217D1154-27F2-4A5A-9067-29A9B3081BF2}"/>
              </a:ext>
            </a:extLst>
          </p:cNvPr>
          <p:cNvSpPr>
            <a:spLocks xmlns:a="http://schemas.openxmlformats.org/drawingml/2006/main" noGrp="1"/>
          </p:cNvSpPr>
          <p:nvPr/>
        </p:nvSpPr>
        <p:spPr>
          <a:xfrm xmlns:a="http://schemas.openxmlformats.org/drawingml/2006/main">
            <a:off x="609600" y="781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3D36"/>
                </a:solidFill>
                <a:latin typeface="Calibri"/>
                <a:ea typeface="Calibri"/>
                <a:cs typeface="Calibri"/>
              </a:defRPr>
            </a:defPPr>
          </a:lstStyle>
          <a:p xmlns:a="http://schemas.openxmlformats.org/drawingml/2006/main">
            <a:pPr>
              <a:buNone/>
              <a:defRPr sz="3225" b="1">
                <a:solidFill>
                  <a:srgbClr val="183D36"/>
                </a:solidFill>
                <a:latin typeface="Calibri"/>
                <a:ea typeface="Calibri"/>
                <a:cs typeface="Calibri"/>
              </a:defRPr>
            </a:pPr>
            <a:r>
              <a:rPr sz="3225" b="1">
                <a:solidFill>
                  <a:srgbClr val="183D36"/>
                </a:solidFill>
                <a:latin typeface="Calibri"/>
                <a:ea typeface="Calibri"/>
                <a:cs typeface="Calibri"/>
              </a:rPr>
              <a:t>Walkthrough: tutoring versus no tutoring</a:t>
            </a:r>
          </a:p>
        </p:txBody>
      </p:sp>
      <p:sp>
        <p:nvSpPr>
          <p:cNvPr id="3" name="">
            <a:extLst xmlns:a="http://schemas.openxmlformats.org/drawingml/2006/main">
              <a:ext uri="{FF2B5EF4-FFF2-40B4-BE49-F238E27FC236}">
                <a16:creationId xmlns:a16="http://schemas.microsoft.com/office/drawing/2014/main" id="{F8445F8A-4326-447A-923E-B3D69510F05C}"/>
              </a:ext>
            </a:extLst>
          </p:cNvPr>
          <p:cNvSpPr>
            <a:spLocks xmlns:a="http://schemas.openxmlformats.org/drawingml/2006/main" noGrp="1"/>
          </p:cNvSpPr>
          <p:nvPr/>
        </p:nvSpPr>
        <p:spPr>
          <a:xfrm xmlns:a="http://schemas.openxmlformats.org/drawingml/2006/main">
            <a:off x="609600" y="6286500"/>
            <a:ext cx="10972800" cy="19050"/>
          </a:xfrm>
          <a:prstGeom xmlns:a="http://schemas.openxmlformats.org/drawingml/2006/main" prst="rect">
            <a:avLst/>
          </a:prstGeom>
          <a:solidFill xmlns:a="http://schemas.openxmlformats.org/drawingml/2006/main">
            <a:srgbClr val="183D3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040A4DE1-F08F-4DC6-AEF2-0B2E43667919}"/>
              </a:ext>
            </a:extLst>
          </p:cNvPr>
          <p:cNvSpPr>
            <a:spLocks xmlns:a="http://schemas.openxmlformats.org/drawingml/2006/main" noGrp="1"/>
          </p:cNvSpPr>
          <p:nvPr/>
        </p:nvSpPr>
        <p:spPr>
          <a:xfrm xmlns:a="http://schemas.openxmlformats.org/drawingml/2006/main">
            <a:off x="609600" y="6410325"/>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5766F"/>
                </a:solidFill>
                <a:latin typeface="Calibri"/>
                <a:ea typeface="Calibri"/>
                <a:cs typeface="Calibri"/>
              </a:defRPr>
            </a:defPPr>
          </a:lstStyle>
          <a:p xmlns:a="http://schemas.openxmlformats.org/drawingml/2006/main">
            <a:pPr>
              <a:buNone/>
              <a:defRPr sz="1275" b="0">
                <a:solidFill>
                  <a:srgbClr val="65766F"/>
                </a:solidFill>
                <a:latin typeface="Calibri"/>
                <a:ea typeface="Calibri"/>
                <a:cs typeface="Calibri"/>
              </a:defRPr>
            </a:pPr>
            <a:r>
              <a:rPr sz="1275" b="0">
                <a:solidFill>
                  <a:srgbClr val="65766F"/>
                </a:solidFill>
                <a:latin typeface="Calibri"/>
                <a:ea typeface="Calibri"/>
                <a:cs typeface="Calibri"/>
              </a:rPr>
              <a:t>Jingcheng Zhou and Junliang Lyu</a:t>
            </a:r>
          </a:p>
        </p:txBody>
      </p:sp>
      <p:sp>
        <p:nvSpPr>
          <p:cNvPr id="5" name="">
            <a:extLst xmlns:a="http://schemas.openxmlformats.org/drawingml/2006/main">
              <a:ext uri="{FF2B5EF4-FFF2-40B4-BE49-F238E27FC236}">
                <a16:creationId xmlns:a16="http://schemas.microsoft.com/office/drawing/2014/main" id="{C857608A-FB29-4516-AE7F-7C8930F4B1BE}"/>
              </a:ext>
            </a:extLst>
          </p:cNvPr>
          <p:cNvSpPr>
            <a:spLocks xmlns:a="http://schemas.openxmlformats.org/drawingml/2006/main" noGrp="1"/>
          </p:cNvSpPr>
          <p:nvPr/>
        </p:nvSpPr>
        <p:spPr>
          <a:xfrm xmlns:a="http://schemas.openxmlformats.org/drawingml/2006/main">
            <a:off x="10953750" y="641032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5766F"/>
                </a:solidFill>
                <a:latin typeface="Calibri"/>
                <a:ea typeface="Calibri"/>
                <a:cs typeface="Calibri"/>
              </a:defRPr>
            </a:defPPr>
          </a:lstStyle>
          <a:p xmlns:a="http://schemas.openxmlformats.org/drawingml/2006/main">
            <a:pPr>
              <a:buNone/>
              <a:defRPr sz="1275" b="0">
                <a:solidFill>
                  <a:srgbClr val="65766F"/>
                </a:solidFill>
                <a:latin typeface="Calibri"/>
                <a:ea typeface="Calibri"/>
                <a:cs typeface="Calibri"/>
              </a:defRPr>
            </a:pPr>
            <a:r>
              <a:rPr sz="1275" b="0">
                <a:solidFill>
                  <a:srgbClr val="65766F"/>
                </a:solidFill>
                <a:latin typeface="Calibri"/>
                <a:ea typeface="Calibri"/>
                <a:cs typeface="Calibri"/>
              </a:rPr>
              <a:t>3 / 5</a:t>
            </a:r>
          </a:p>
        </p:txBody>
      </p:sp>
      <p:sp>
        <p:nvSpPr>
          <p:cNvPr id="6" name="">
            <a:extLst xmlns:a="http://schemas.openxmlformats.org/drawingml/2006/main">
              <a:ext uri="{FF2B5EF4-FFF2-40B4-BE49-F238E27FC236}">
                <a16:creationId xmlns:a16="http://schemas.microsoft.com/office/drawing/2014/main" id="{29994712-BACB-40AA-B20A-D9A40450CF63}"/>
              </a:ext>
            </a:extLst>
          </p:cNvPr>
          <p:cNvSpPr>
            <a:spLocks xmlns:a="http://schemas.openxmlformats.org/drawingml/2006/main" noGrp="1"/>
          </p:cNvSpPr>
          <p:nvPr/>
        </p:nvSpPr>
        <p:spPr>
          <a:xfrm xmlns:a="http://schemas.openxmlformats.org/drawingml/2006/main">
            <a:off x="609600" y="1762125"/>
            <a:ext cx="10953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BD5036"/>
                </a:solidFill>
                <a:latin typeface="Calibri"/>
                <a:ea typeface="Calibri"/>
                <a:cs typeface="Calibri"/>
              </a:defRPr>
            </a:defPPr>
          </a:lstStyle>
          <a:p xmlns:a="http://schemas.openxmlformats.org/drawingml/2006/main">
            <a:pPr>
              <a:buNone/>
              <a:defRPr sz="1950" b="1">
                <a:solidFill>
                  <a:srgbClr val="BD5036"/>
                </a:solidFill>
                <a:latin typeface="Calibri"/>
                <a:ea typeface="Calibri"/>
                <a:cs typeface="Calibri"/>
              </a:defRPr>
            </a:pPr>
            <a:r>
              <a:rPr sz="1950" b="1">
                <a:solidFill>
                  <a:srgbClr val="BD5036"/>
                </a:solidFill>
                <a:latin typeface="Calibri"/>
                <a:ea typeface="Calibri"/>
                <a:cs typeface="Calibri"/>
              </a:rPr>
              <a:t>INPUT / 80 synthetic students, 40 per group</a:t>
            </a:r>
          </a:p>
        </p:txBody>
      </p:sp>
      <p:sp>
        <p:nvSpPr>
          <p:cNvPr id="7" name="">
            <a:extLst xmlns:a="http://schemas.openxmlformats.org/drawingml/2006/main">
              <a:ext uri="{FF2B5EF4-FFF2-40B4-BE49-F238E27FC236}">
                <a16:creationId xmlns:a16="http://schemas.microsoft.com/office/drawing/2014/main" id="{0C0F7BEC-4210-4EE9-AC31-2E5012A4AF06}"/>
              </a:ext>
            </a:extLst>
          </p:cNvPr>
          <p:cNvSpPr>
            <a:spLocks xmlns:a="http://schemas.openxmlformats.org/drawingml/2006/main" noGrp="1"/>
          </p:cNvSpPr>
          <p:nvPr/>
        </p:nvSpPr>
        <p:spPr>
          <a:xfrm xmlns:a="http://schemas.openxmlformats.org/drawingml/2006/main">
            <a:off x="609600" y="2190750"/>
            <a:ext cx="10953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83D36"/>
                </a:solidFill>
                <a:latin typeface="Calibri"/>
                <a:ea typeface="Calibri"/>
                <a:cs typeface="Calibri"/>
              </a:defRPr>
            </a:defPPr>
          </a:lstStyle>
          <a:p xmlns:a="http://schemas.openxmlformats.org/drawingml/2006/main">
            <a:pPr>
              <a:buNone/>
              <a:defRPr sz="2250" b="1">
                <a:solidFill>
                  <a:srgbClr val="183D36"/>
                </a:solidFill>
                <a:latin typeface="Calibri"/>
                <a:ea typeface="Calibri"/>
                <a:cs typeface="Calibri"/>
              </a:defRPr>
            </a:pPr>
            <a:r>
              <a:rPr sz="2250" b="1">
                <a:solidFill>
                  <a:srgbClr val="183D36"/>
                </a:solidFill>
                <a:latin typeface="Calibri"/>
                <a:ea typeface="Calibri"/>
                <a:cs typeface="Calibri"/>
              </a:rPr>
              <a:t>“Compare mean exam scores for tutoring yes versus no.”</a:t>
            </a:r>
          </a:p>
        </p:txBody>
      </p:sp>
      <p:sp>
        <p:nvSpPr>
          <p:cNvPr id="8" name="">
            <a:extLst xmlns:a="http://schemas.openxmlformats.org/drawingml/2006/main">
              <a:ext uri="{FF2B5EF4-FFF2-40B4-BE49-F238E27FC236}">
                <a16:creationId xmlns:a16="http://schemas.microsoft.com/office/drawing/2014/main" id="{ED7F98FB-FBED-42CA-9569-CA6A9870B298}"/>
              </a:ext>
            </a:extLst>
          </p:cNvPr>
          <p:cNvSpPr>
            <a:spLocks xmlns:a="http://schemas.openxmlformats.org/drawingml/2006/main" noGrp="1"/>
          </p:cNvSpPr>
          <p:nvPr/>
        </p:nvSpPr>
        <p:spPr>
          <a:xfrm xmlns:a="http://schemas.openxmlformats.org/drawingml/2006/main">
            <a:off x="609600" y="2838450"/>
            <a:ext cx="47625" cy="457200"/>
          </a:xfrm>
          <a:prstGeom xmlns:a="http://schemas.openxmlformats.org/drawingml/2006/main" prst="rect">
            <a:avLst/>
          </a:prstGeom>
          <a:solidFill xmlns:a="http://schemas.openxmlformats.org/drawingml/2006/main">
            <a:srgbClr val="183D36"/>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A904851-1C80-4A9E-9B42-86D2C835D8DA}"/>
              </a:ext>
            </a:extLst>
          </p:cNvPr>
          <p:cNvSpPr>
            <a:spLocks xmlns:a="http://schemas.openxmlformats.org/drawingml/2006/main" noGrp="1"/>
          </p:cNvSpPr>
          <p:nvPr/>
        </p:nvSpPr>
        <p:spPr>
          <a:xfrm xmlns:a="http://schemas.openxmlformats.org/drawingml/2006/main">
            <a:off x="819150" y="2867025"/>
            <a:ext cx="22574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83D36"/>
                </a:solidFill>
                <a:latin typeface="Calibri"/>
                <a:ea typeface="Calibri"/>
                <a:cs typeface="Calibri"/>
              </a:defRPr>
            </a:defPPr>
          </a:lstStyle>
          <a:p xmlns:a="http://schemas.openxmlformats.org/drawingml/2006/main">
            <a:pPr>
              <a:buNone/>
              <a:defRPr sz="1800" b="1">
                <a:solidFill>
                  <a:srgbClr val="183D36"/>
                </a:solidFill>
                <a:latin typeface="Calibri"/>
                <a:ea typeface="Calibri"/>
                <a:cs typeface="Calibri"/>
              </a:defRPr>
            </a:pPr>
            <a:r>
              <a:rPr sz="1800" b="1">
                <a:solidFill>
                  <a:srgbClr val="183D36"/>
                </a:solidFill>
                <a:latin typeface="Calibri"/>
                <a:ea typeface="Calibri"/>
                <a:cs typeface="Calibri"/>
              </a:rPr>
              <a:t>Step 1 Plan</a:t>
            </a:r>
          </a:p>
        </p:txBody>
      </p:sp>
      <p:sp>
        <p:nvSpPr>
          <p:cNvPr id="10" name="">
            <a:extLst xmlns:a="http://schemas.openxmlformats.org/drawingml/2006/main">
              <a:ext uri="{FF2B5EF4-FFF2-40B4-BE49-F238E27FC236}">
                <a16:creationId xmlns:a16="http://schemas.microsoft.com/office/drawing/2014/main" id="{96E8AD41-B186-4BED-9F31-9B35A60DFE8A}"/>
              </a:ext>
            </a:extLst>
          </p:cNvPr>
          <p:cNvSpPr>
            <a:spLocks xmlns:a="http://schemas.openxmlformats.org/drawingml/2006/main" noGrp="1"/>
          </p:cNvSpPr>
          <p:nvPr/>
        </p:nvSpPr>
        <p:spPr>
          <a:xfrm xmlns:a="http://schemas.openxmlformats.org/drawingml/2006/main">
            <a:off x="3105150" y="2867025"/>
            <a:ext cx="84486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83D36"/>
                </a:solidFill>
                <a:latin typeface="Calibri"/>
                <a:ea typeface="Calibri"/>
                <a:cs typeface="Calibri"/>
              </a:defRPr>
            </a:defPPr>
          </a:lstStyle>
          <a:p xmlns:a="http://schemas.openxmlformats.org/drawingml/2006/main">
            <a:pPr>
              <a:buNone/>
              <a:defRPr sz="1725" b="0">
                <a:solidFill>
                  <a:srgbClr val="183D36"/>
                </a:solidFill>
                <a:latin typeface="Calibri"/>
                <a:ea typeface="Calibri"/>
                <a:cs typeface="Calibri"/>
              </a:defRPr>
            </a:pPr>
            <a:r>
              <a:rPr sz="1725" b="0">
                <a:solidFill>
                  <a:srgbClr val="183D36"/>
                </a:solidFill>
                <a:latin typeface="Calibri"/>
                <a:ea typeface="Calibri"/>
                <a:cs typeface="Calibri"/>
              </a:rPr>
              <a:t>H0: Δ = 0; H1: Δ ≠ 0; α = 0.05; Δ = μ(yes) − μ(no)</a:t>
            </a:r>
          </a:p>
        </p:txBody>
      </p:sp>
      <p:sp>
        <p:nvSpPr>
          <p:cNvPr id="11" name="">
            <a:extLst xmlns:a="http://schemas.openxmlformats.org/drawingml/2006/main">
              <a:ext uri="{FF2B5EF4-FFF2-40B4-BE49-F238E27FC236}">
                <a16:creationId xmlns:a16="http://schemas.microsoft.com/office/drawing/2014/main" id="{03D86929-554E-4A90-96C5-B9A0FA055526}"/>
              </a:ext>
            </a:extLst>
          </p:cNvPr>
          <p:cNvSpPr>
            <a:spLocks xmlns:a="http://schemas.openxmlformats.org/drawingml/2006/main" noGrp="1"/>
          </p:cNvSpPr>
          <p:nvPr/>
        </p:nvSpPr>
        <p:spPr>
          <a:xfrm xmlns:a="http://schemas.openxmlformats.org/drawingml/2006/main">
            <a:off x="609600" y="3400425"/>
            <a:ext cx="47625" cy="457200"/>
          </a:xfrm>
          <a:prstGeom xmlns:a="http://schemas.openxmlformats.org/drawingml/2006/main" prst="rect">
            <a:avLst/>
          </a:prstGeom>
          <a:solidFill xmlns:a="http://schemas.openxmlformats.org/drawingml/2006/main">
            <a:srgbClr val="183D36"/>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D0FB4F8-5D73-4F04-8932-F6BB7032C9DC}"/>
              </a:ext>
            </a:extLst>
          </p:cNvPr>
          <p:cNvSpPr>
            <a:spLocks xmlns:a="http://schemas.openxmlformats.org/drawingml/2006/main" noGrp="1"/>
          </p:cNvSpPr>
          <p:nvPr/>
        </p:nvSpPr>
        <p:spPr>
          <a:xfrm xmlns:a="http://schemas.openxmlformats.org/drawingml/2006/main">
            <a:off x="819150" y="3429000"/>
            <a:ext cx="22574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83D36"/>
                </a:solidFill>
                <a:latin typeface="Calibri"/>
                <a:ea typeface="Calibri"/>
                <a:cs typeface="Calibri"/>
              </a:defRPr>
            </a:defPPr>
          </a:lstStyle>
          <a:p xmlns:a="http://schemas.openxmlformats.org/drawingml/2006/main">
            <a:pPr>
              <a:buNone/>
              <a:defRPr sz="1800" b="1">
                <a:solidFill>
                  <a:srgbClr val="183D36"/>
                </a:solidFill>
                <a:latin typeface="Calibri"/>
                <a:ea typeface="Calibri"/>
                <a:cs typeface="Calibri"/>
              </a:defRPr>
            </a:pPr>
            <a:r>
              <a:rPr sz="1800" b="1">
                <a:solidFill>
                  <a:srgbClr val="183D36"/>
                </a:solidFill>
                <a:latin typeface="Calibri"/>
                <a:ea typeface="Calibri"/>
                <a:cs typeface="Calibri"/>
              </a:rPr>
              <a:t>Step 2 Design</a:t>
            </a:r>
          </a:p>
        </p:txBody>
      </p:sp>
      <p:sp>
        <p:nvSpPr>
          <p:cNvPr id="13" name="">
            <a:extLst xmlns:a="http://schemas.openxmlformats.org/drawingml/2006/main">
              <a:ext uri="{FF2B5EF4-FFF2-40B4-BE49-F238E27FC236}">
                <a16:creationId xmlns:a16="http://schemas.microsoft.com/office/drawing/2014/main" id="{01EAEE14-7604-4F0D-8438-DA4D8B4B216E}"/>
              </a:ext>
            </a:extLst>
          </p:cNvPr>
          <p:cNvSpPr>
            <a:spLocks xmlns:a="http://schemas.openxmlformats.org/drawingml/2006/main" noGrp="1"/>
          </p:cNvSpPr>
          <p:nvPr/>
        </p:nvSpPr>
        <p:spPr>
          <a:xfrm xmlns:a="http://schemas.openxmlformats.org/drawingml/2006/main">
            <a:off x="3105150" y="3429000"/>
            <a:ext cx="84486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83D36"/>
                </a:solidFill>
                <a:latin typeface="Calibri"/>
                <a:ea typeface="Calibri"/>
                <a:cs typeface="Calibri"/>
              </a:defRPr>
            </a:defPPr>
          </a:lstStyle>
          <a:p xmlns:a="http://schemas.openxmlformats.org/drawingml/2006/main">
            <a:pPr>
              <a:buNone/>
              <a:defRPr sz="1725" b="0">
                <a:solidFill>
                  <a:srgbClr val="183D36"/>
                </a:solidFill>
                <a:latin typeface="Calibri"/>
                <a:ea typeface="Calibri"/>
                <a:cs typeface="Calibri"/>
              </a:defRPr>
            </a:pPr>
            <a:r>
              <a:rPr sz="1725" b="0">
                <a:solidFill>
                  <a:srgbClr val="183D36"/>
                </a:solidFill>
                <a:latin typeface="Calibri"/>
                <a:ea typeface="Calibri"/>
                <a:cs typeface="Calibri"/>
              </a:rPr>
              <a:t>Supplied teaching metadata: independent records; nonrandom tutoring</a:t>
            </a:r>
          </a:p>
        </p:txBody>
      </p:sp>
      <p:sp>
        <p:nvSpPr>
          <p:cNvPr id="14" name="">
            <a:extLst xmlns:a="http://schemas.openxmlformats.org/drawingml/2006/main">
              <a:ext uri="{FF2B5EF4-FFF2-40B4-BE49-F238E27FC236}">
                <a16:creationId xmlns:a16="http://schemas.microsoft.com/office/drawing/2014/main" id="{1BAC898A-EA24-484B-8DE3-B9AB885A3E72}"/>
              </a:ext>
            </a:extLst>
          </p:cNvPr>
          <p:cNvSpPr>
            <a:spLocks xmlns:a="http://schemas.openxmlformats.org/drawingml/2006/main" noGrp="1"/>
          </p:cNvSpPr>
          <p:nvPr/>
        </p:nvSpPr>
        <p:spPr>
          <a:xfrm xmlns:a="http://schemas.openxmlformats.org/drawingml/2006/main">
            <a:off x="609600" y="3962400"/>
            <a:ext cx="47625" cy="457200"/>
          </a:xfrm>
          <a:prstGeom xmlns:a="http://schemas.openxmlformats.org/drawingml/2006/main" prst="rect">
            <a:avLst/>
          </a:prstGeom>
          <a:solidFill xmlns:a="http://schemas.openxmlformats.org/drawingml/2006/main">
            <a:srgbClr val="183D36"/>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3B5FF22F-9DE3-43B7-8CCA-3D0E0871C05C}"/>
              </a:ext>
            </a:extLst>
          </p:cNvPr>
          <p:cNvSpPr>
            <a:spLocks xmlns:a="http://schemas.openxmlformats.org/drawingml/2006/main" noGrp="1"/>
          </p:cNvSpPr>
          <p:nvPr/>
        </p:nvSpPr>
        <p:spPr>
          <a:xfrm xmlns:a="http://schemas.openxmlformats.org/drawingml/2006/main">
            <a:off x="819150" y="3990975"/>
            <a:ext cx="22574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83D36"/>
                </a:solidFill>
                <a:latin typeface="Calibri"/>
                <a:ea typeface="Calibri"/>
                <a:cs typeface="Calibri"/>
              </a:defRPr>
            </a:defPPr>
          </a:lstStyle>
          <a:p xmlns:a="http://schemas.openxmlformats.org/drawingml/2006/main">
            <a:pPr>
              <a:buNone/>
              <a:defRPr sz="1800" b="1">
                <a:solidFill>
                  <a:srgbClr val="183D36"/>
                </a:solidFill>
                <a:latin typeface="Calibri"/>
                <a:ea typeface="Calibri"/>
                <a:cs typeface="Calibri"/>
              </a:defRPr>
            </a:pPr>
            <a:r>
              <a:rPr sz="1800" b="1">
                <a:solidFill>
                  <a:srgbClr val="183D36"/>
                </a:solidFill>
                <a:latin typeface="Calibri"/>
                <a:ea typeface="Calibri"/>
                <a:cs typeface="Calibri"/>
              </a:rPr>
              <a:t>Step 3 Checks</a:t>
            </a:r>
          </a:p>
        </p:txBody>
      </p:sp>
      <p:sp>
        <p:nvSpPr>
          <p:cNvPr id="16" name="">
            <a:extLst xmlns:a="http://schemas.openxmlformats.org/drawingml/2006/main">
              <a:ext uri="{FF2B5EF4-FFF2-40B4-BE49-F238E27FC236}">
                <a16:creationId xmlns:a16="http://schemas.microsoft.com/office/drawing/2014/main" id="{BF3B052A-D31F-4183-97A7-3276B9D1D646}"/>
              </a:ext>
            </a:extLst>
          </p:cNvPr>
          <p:cNvSpPr>
            <a:spLocks xmlns:a="http://schemas.openxmlformats.org/drawingml/2006/main" noGrp="1"/>
          </p:cNvSpPr>
          <p:nvPr/>
        </p:nvSpPr>
        <p:spPr>
          <a:xfrm xmlns:a="http://schemas.openxmlformats.org/drawingml/2006/main">
            <a:off x="3105150" y="3990975"/>
            <a:ext cx="84486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83D36"/>
                </a:solidFill>
                <a:latin typeface="Calibri"/>
                <a:ea typeface="Calibri"/>
                <a:cs typeface="Calibri"/>
              </a:defRPr>
            </a:defPPr>
          </a:lstStyle>
          <a:p xmlns:a="http://schemas.openxmlformats.org/drawingml/2006/main">
            <a:pPr>
              <a:buNone/>
              <a:defRPr sz="1725" b="0">
                <a:solidFill>
                  <a:srgbClr val="183D36"/>
                </a:solidFill>
                <a:latin typeface="Calibri"/>
                <a:ea typeface="Calibri"/>
                <a:cs typeface="Calibri"/>
              </a:defRPr>
            </a:pPr>
            <a:r>
              <a:rPr sz="1725" b="0">
                <a:solidFill>
                  <a:srgbClr val="183D36"/>
                </a:solidFill>
                <a:latin typeface="Calibri"/>
                <a:ea typeface="Calibri"/>
                <a:cs typeface="Calibri"/>
              </a:rPr>
              <a:t>Mean comparison → Welch; finite values, missingness, n and variation</a:t>
            </a:r>
          </a:p>
        </p:txBody>
      </p:sp>
      <p:sp>
        <p:nvSpPr>
          <p:cNvPr id="17" name="">
            <a:extLst xmlns:a="http://schemas.openxmlformats.org/drawingml/2006/main">
              <a:ext uri="{FF2B5EF4-FFF2-40B4-BE49-F238E27FC236}">
                <a16:creationId xmlns:a16="http://schemas.microsoft.com/office/drawing/2014/main" id="{403BCE0F-CC21-48C5-A91C-0D376C22EEB4}"/>
              </a:ext>
            </a:extLst>
          </p:cNvPr>
          <p:cNvSpPr>
            <a:spLocks xmlns:a="http://schemas.openxmlformats.org/drawingml/2006/main" noGrp="1"/>
          </p:cNvSpPr>
          <p:nvPr/>
        </p:nvSpPr>
        <p:spPr>
          <a:xfrm xmlns:a="http://schemas.openxmlformats.org/drawingml/2006/main">
            <a:off x="609600" y="4524375"/>
            <a:ext cx="47625" cy="457200"/>
          </a:xfrm>
          <a:prstGeom xmlns:a="http://schemas.openxmlformats.org/drawingml/2006/main" prst="rect">
            <a:avLst/>
          </a:prstGeom>
          <a:solidFill xmlns:a="http://schemas.openxmlformats.org/drawingml/2006/main">
            <a:srgbClr val="BD5036"/>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A6748A1-8FC2-450E-8873-ECB0617E8A81}"/>
              </a:ext>
            </a:extLst>
          </p:cNvPr>
          <p:cNvSpPr>
            <a:spLocks xmlns:a="http://schemas.openxmlformats.org/drawingml/2006/main" noGrp="1"/>
          </p:cNvSpPr>
          <p:nvPr/>
        </p:nvSpPr>
        <p:spPr>
          <a:xfrm xmlns:a="http://schemas.openxmlformats.org/drawingml/2006/main">
            <a:off x="819150" y="4552950"/>
            <a:ext cx="22574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83D36"/>
                </a:solidFill>
                <a:latin typeface="Calibri"/>
                <a:ea typeface="Calibri"/>
                <a:cs typeface="Calibri"/>
              </a:defRPr>
            </a:defPPr>
          </a:lstStyle>
          <a:p xmlns:a="http://schemas.openxmlformats.org/drawingml/2006/main">
            <a:pPr>
              <a:buNone/>
              <a:defRPr sz="1800" b="1">
                <a:solidFill>
                  <a:srgbClr val="183D36"/>
                </a:solidFill>
                <a:latin typeface="Calibri"/>
                <a:ea typeface="Calibri"/>
                <a:cs typeface="Calibri"/>
              </a:defRPr>
            </a:pPr>
            <a:r>
              <a:rPr sz="1800" b="1">
                <a:solidFill>
                  <a:srgbClr val="183D36"/>
                </a:solidFill>
                <a:latin typeface="Calibri"/>
                <a:ea typeface="Calibri"/>
                <a:cs typeface="Calibri"/>
              </a:rPr>
              <a:t>Step 4 SciPy</a:t>
            </a:r>
          </a:p>
        </p:txBody>
      </p:sp>
      <p:sp>
        <p:nvSpPr>
          <p:cNvPr id="19" name="">
            <a:extLst xmlns:a="http://schemas.openxmlformats.org/drawingml/2006/main">
              <a:ext uri="{FF2B5EF4-FFF2-40B4-BE49-F238E27FC236}">
                <a16:creationId xmlns:a16="http://schemas.microsoft.com/office/drawing/2014/main" id="{C94F2BBC-2995-49B4-8EB5-A9CAF9F7B9B9}"/>
              </a:ext>
            </a:extLst>
          </p:cNvPr>
          <p:cNvSpPr>
            <a:spLocks xmlns:a="http://schemas.openxmlformats.org/drawingml/2006/main" noGrp="1"/>
          </p:cNvSpPr>
          <p:nvPr/>
        </p:nvSpPr>
        <p:spPr>
          <a:xfrm xmlns:a="http://schemas.openxmlformats.org/drawingml/2006/main">
            <a:off x="3105150" y="4552950"/>
            <a:ext cx="84486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83D36"/>
                </a:solidFill>
                <a:latin typeface="Calibri"/>
                <a:ea typeface="Calibri"/>
                <a:cs typeface="Calibri"/>
              </a:defRPr>
            </a:defPPr>
          </a:lstStyle>
          <a:p xmlns:a="http://schemas.openxmlformats.org/drawingml/2006/main">
            <a:pPr>
              <a:buNone/>
              <a:defRPr sz="1725" b="0">
                <a:solidFill>
                  <a:srgbClr val="183D36"/>
                </a:solidFill>
                <a:latin typeface="Calibri"/>
                <a:ea typeface="Calibri"/>
                <a:cs typeface="Calibri"/>
              </a:defRPr>
            </a:pPr>
            <a:r>
              <a:rPr sz="1725" b="0">
                <a:solidFill>
                  <a:srgbClr val="183D36"/>
                </a:solidFill>
                <a:latin typeface="Calibri"/>
                <a:ea typeface="Calibri"/>
                <a:cs typeface="Calibri"/>
              </a:rPr>
              <a:t>Mean difference = 6.92 points; 95% CI [2.97, 10.87]; p = 0.000824</a:t>
            </a:r>
          </a:p>
        </p:txBody>
      </p:sp>
      <p:sp>
        <p:nvSpPr>
          <p:cNvPr id="20" name="">
            <a:extLst xmlns:a="http://schemas.openxmlformats.org/drawingml/2006/main">
              <a:ext uri="{FF2B5EF4-FFF2-40B4-BE49-F238E27FC236}">
                <a16:creationId xmlns:a16="http://schemas.microsoft.com/office/drawing/2014/main" id="{9C12223E-9E9F-493E-B3AE-B9652CC0BE10}"/>
              </a:ext>
            </a:extLst>
          </p:cNvPr>
          <p:cNvSpPr>
            <a:spLocks xmlns:a="http://schemas.openxmlformats.org/drawingml/2006/main" noGrp="1"/>
          </p:cNvSpPr>
          <p:nvPr/>
        </p:nvSpPr>
        <p:spPr>
          <a:xfrm xmlns:a="http://schemas.openxmlformats.org/drawingml/2006/main">
            <a:off x="609600" y="5086350"/>
            <a:ext cx="47625" cy="457200"/>
          </a:xfrm>
          <a:prstGeom xmlns:a="http://schemas.openxmlformats.org/drawingml/2006/main" prst="rect">
            <a:avLst/>
          </a:prstGeom>
          <a:solidFill xmlns:a="http://schemas.openxmlformats.org/drawingml/2006/main">
            <a:srgbClr val="183D36"/>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C3F4592-ECDF-4357-870F-5BAF29CFC9A0}"/>
              </a:ext>
            </a:extLst>
          </p:cNvPr>
          <p:cNvSpPr>
            <a:spLocks xmlns:a="http://schemas.openxmlformats.org/drawingml/2006/main" noGrp="1"/>
          </p:cNvSpPr>
          <p:nvPr/>
        </p:nvSpPr>
        <p:spPr>
          <a:xfrm xmlns:a="http://schemas.openxmlformats.org/drawingml/2006/main">
            <a:off x="819150" y="5114925"/>
            <a:ext cx="22574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183D36"/>
                </a:solidFill>
                <a:latin typeface="Calibri"/>
                <a:ea typeface="Calibri"/>
                <a:cs typeface="Calibri"/>
              </a:defRPr>
            </a:defPPr>
          </a:lstStyle>
          <a:p xmlns:a="http://schemas.openxmlformats.org/drawingml/2006/main">
            <a:pPr>
              <a:buNone/>
              <a:defRPr sz="1800" b="1">
                <a:solidFill>
                  <a:srgbClr val="183D36"/>
                </a:solidFill>
                <a:latin typeface="Calibri"/>
                <a:ea typeface="Calibri"/>
                <a:cs typeface="Calibri"/>
              </a:defRPr>
            </a:pPr>
            <a:r>
              <a:rPr sz="1800" b="1">
                <a:solidFill>
                  <a:srgbClr val="183D36"/>
                </a:solidFill>
                <a:latin typeface="Calibri"/>
                <a:ea typeface="Calibri"/>
                <a:cs typeface="Calibri"/>
              </a:rPr>
              <a:t>Step 5 Review</a:t>
            </a:r>
          </a:p>
        </p:txBody>
      </p:sp>
      <p:sp>
        <p:nvSpPr>
          <p:cNvPr id="22" name="">
            <a:extLst xmlns:a="http://schemas.openxmlformats.org/drawingml/2006/main">
              <a:ext uri="{FF2B5EF4-FFF2-40B4-BE49-F238E27FC236}">
                <a16:creationId xmlns:a16="http://schemas.microsoft.com/office/drawing/2014/main" id="{FD7F84F9-0626-43A2-9C64-DBEC8BCB8374}"/>
              </a:ext>
            </a:extLst>
          </p:cNvPr>
          <p:cNvSpPr>
            <a:spLocks xmlns:a="http://schemas.openxmlformats.org/drawingml/2006/main" noGrp="1"/>
          </p:cNvSpPr>
          <p:nvPr/>
        </p:nvSpPr>
        <p:spPr>
          <a:xfrm xmlns:a="http://schemas.openxmlformats.org/drawingml/2006/main">
            <a:off x="3105150" y="5114925"/>
            <a:ext cx="84486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83D36"/>
                </a:solidFill>
                <a:latin typeface="Calibri"/>
                <a:ea typeface="Calibri"/>
                <a:cs typeface="Calibri"/>
              </a:defRPr>
            </a:defPPr>
          </a:lstStyle>
          <a:p xmlns:a="http://schemas.openxmlformats.org/drawingml/2006/main">
            <a:pPr>
              <a:buNone/>
              <a:defRPr sz="1725" b="0">
                <a:solidFill>
                  <a:srgbClr val="183D36"/>
                </a:solidFill>
                <a:latin typeface="Calibri"/>
                <a:ea typeface="Calibri"/>
                <a:cs typeface="Calibri"/>
              </a:defRPr>
            </a:pPr>
            <a:r>
              <a:rPr sz="1725" b="0">
                <a:solidFill>
                  <a:srgbClr val="183D36"/>
                </a:solidFill>
                <a:latin typeface="Calibri"/>
                <a:ea typeface="Calibri"/>
                <a:cs typeface="Calibri"/>
              </a:rPr>
              <a:t>Reject H0 at α = 0.05; observed difference does not establish causation</a:t>
            </a:r>
          </a:p>
        </p:txBody>
      </p:sp>
      <p:sp>
        <p:nvSpPr>
          <p:cNvPr id="23" name="">
            <a:extLst xmlns:a="http://schemas.openxmlformats.org/drawingml/2006/main">
              <a:ext uri="{FF2B5EF4-FFF2-40B4-BE49-F238E27FC236}">
                <a16:creationId xmlns:a16="http://schemas.microsoft.com/office/drawing/2014/main" id="{F5CB88E8-6542-4F17-BA7C-73224771A3AE}"/>
              </a:ext>
            </a:extLst>
          </p:cNvPr>
          <p:cNvSpPr>
            <a:spLocks xmlns:a="http://schemas.openxmlformats.org/drawingml/2006/main" noGrp="1"/>
          </p:cNvSpPr>
          <p:nvPr/>
        </p:nvSpPr>
        <p:spPr>
          <a:xfrm xmlns:a="http://schemas.openxmlformats.org/drawingml/2006/main">
            <a:off x="609600" y="58578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BD5036"/>
                </a:solidFill>
                <a:latin typeface="Calibri"/>
                <a:ea typeface="Calibri"/>
                <a:cs typeface="Calibri"/>
              </a:defRPr>
            </a:defPPr>
          </a:lstStyle>
          <a:p xmlns:a="http://schemas.openxmlformats.org/drawingml/2006/main">
            <a:pPr>
              <a:buNone/>
              <a:defRPr sz="1725" b="1">
                <a:solidFill>
                  <a:srgbClr val="BD5036"/>
                </a:solidFill>
                <a:latin typeface="Calibri"/>
                <a:ea typeface="Calibri"/>
                <a:cs typeface="Calibri"/>
              </a:defRPr>
            </a:pPr>
            <a:r>
              <a:rPr sz="1725" b="1">
                <a:solidFill>
                  <a:srgbClr val="BD5036"/>
                </a:solidFill>
                <a:latin typeface="Calibri"/>
                <a:ea typeface="Calibri"/>
                <a:cs typeface="Calibri"/>
              </a:rPr>
              <a:t>Welch allows unequal variances. Correlation addresses a different statistical target.</a:t>
            </a:r>
          </a:p>
        </p:txBody>
      </p:sp>
    </p:spTree>
    <p:extLst>
      <p:ext uri="{BB962C8B-B14F-4D97-AF65-F5344CB8AC3E}">
        <p14:creationId xmlns:p14="http://schemas.microsoft.com/office/powerpoint/2010/main" val="54048084"/>
      </p:ext>
    </p:extLst>
  </p:cSld>
</p:sld>
</file>

<file path=ppt/slides/slide4.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7384F1CA-98E6-42B6-953E-9F71E642566D}"/>
              </a:ext>
            </a:extLst>
          </p:cNvPr>
          <p:cNvSpPr>
            <a:spLocks xmlns:a="http://schemas.openxmlformats.org/drawingml/2006/main" noGrp="1"/>
          </p:cNvSpPr>
          <p:nvPr/>
        </p:nvSpPr>
        <p:spPr>
          <a:xfrm xmlns:a="http://schemas.openxmlformats.org/drawingml/2006/main">
            <a:off x="609600" y="266700"/>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BD5036"/>
                </a:solidFill>
                <a:latin typeface="Calibri"/>
                <a:ea typeface="Calibri"/>
                <a:cs typeface="Calibri"/>
              </a:defRPr>
            </a:defPPr>
          </a:lstStyle>
          <a:p xmlns:a="http://schemas.openxmlformats.org/drawingml/2006/main">
            <a:pPr>
              <a:buNone/>
              <a:defRPr sz="1275" b="1">
                <a:solidFill>
                  <a:srgbClr val="BD5036"/>
                </a:solidFill>
                <a:latin typeface="Calibri"/>
                <a:ea typeface="Calibri"/>
                <a:cs typeface="Calibri"/>
              </a:defRPr>
            </a:pPr>
            <a:r>
              <a:rPr sz="1275" b="1">
                <a:solidFill>
                  <a:srgbClr val="BD5036"/>
                </a:solidFill>
                <a:latin typeface="Calibri"/>
                <a:ea typeface="Calibri"/>
                <a:cs typeface="Calibri"/>
              </a:rPr>
              <a:t>CS7327  /  MIDTERM PROJECT</a:t>
            </a:r>
          </a:p>
        </p:txBody>
      </p:sp>
      <p:sp>
        <p:nvSpPr>
          <p:cNvPr id="2" name="">
            <a:extLst xmlns:a="http://schemas.openxmlformats.org/drawingml/2006/main">
              <a:ext uri="{FF2B5EF4-FFF2-40B4-BE49-F238E27FC236}">
                <a16:creationId xmlns:a16="http://schemas.microsoft.com/office/drawing/2014/main" id="{1E373DAE-A3C8-40B5-A1A3-67953C49081E}"/>
              </a:ext>
            </a:extLst>
          </p:cNvPr>
          <p:cNvSpPr>
            <a:spLocks xmlns:a="http://schemas.openxmlformats.org/drawingml/2006/main" noGrp="1"/>
          </p:cNvSpPr>
          <p:nvPr/>
        </p:nvSpPr>
        <p:spPr>
          <a:xfrm xmlns:a="http://schemas.openxmlformats.org/drawingml/2006/main">
            <a:off x="609600" y="781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3D36"/>
                </a:solidFill>
                <a:latin typeface="Calibri"/>
                <a:ea typeface="Calibri"/>
                <a:cs typeface="Calibri"/>
              </a:defRPr>
            </a:defPPr>
          </a:lstStyle>
          <a:p xmlns:a="http://schemas.openxmlformats.org/drawingml/2006/main">
            <a:pPr>
              <a:buNone/>
              <a:defRPr sz="3225" b="1">
                <a:solidFill>
                  <a:srgbClr val="183D36"/>
                </a:solidFill>
                <a:latin typeface="Calibri"/>
                <a:ea typeface="Calibri"/>
                <a:cs typeface="Calibri"/>
              </a:defRPr>
            </a:pPr>
            <a:r>
              <a:rPr sz="3225" b="1">
                <a:solidFill>
                  <a:srgbClr val="183D36"/>
                </a:solidFill>
                <a:latin typeface="Calibri"/>
                <a:ea typeface="Calibri"/>
                <a:cs typeface="Calibri"/>
              </a:rPr>
              <a:t>Follow-ups and evaluation evidence</a:t>
            </a:r>
          </a:p>
        </p:txBody>
      </p:sp>
      <p:sp>
        <p:nvSpPr>
          <p:cNvPr id="3" name="">
            <a:extLst xmlns:a="http://schemas.openxmlformats.org/drawingml/2006/main">
              <a:ext uri="{FF2B5EF4-FFF2-40B4-BE49-F238E27FC236}">
                <a16:creationId xmlns:a16="http://schemas.microsoft.com/office/drawing/2014/main" id="{76DEFC40-7870-4EEA-BACE-7B898A72E451}"/>
              </a:ext>
            </a:extLst>
          </p:cNvPr>
          <p:cNvSpPr>
            <a:spLocks xmlns:a="http://schemas.openxmlformats.org/drawingml/2006/main" noGrp="1"/>
          </p:cNvSpPr>
          <p:nvPr/>
        </p:nvSpPr>
        <p:spPr>
          <a:xfrm xmlns:a="http://schemas.openxmlformats.org/drawingml/2006/main">
            <a:off x="609600" y="6286500"/>
            <a:ext cx="10972800" cy="19050"/>
          </a:xfrm>
          <a:prstGeom xmlns:a="http://schemas.openxmlformats.org/drawingml/2006/main" prst="rect">
            <a:avLst/>
          </a:prstGeom>
          <a:solidFill xmlns:a="http://schemas.openxmlformats.org/drawingml/2006/main">
            <a:srgbClr val="183D3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7B290A1-B825-4AC1-9D84-436F90833B67}"/>
              </a:ext>
            </a:extLst>
          </p:cNvPr>
          <p:cNvSpPr>
            <a:spLocks xmlns:a="http://schemas.openxmlformats.org/drawingml/2006/main" noGrp="1"/>
          </p:cNvSpPr>
          <p:nvPr/>
        </p:nvSpPr>
        <p:spPr>
          <a:xfrm xmlns:a="http://schemas.openxmlformats.org/drawingml/2006/main">
            <a:off x="609600" y="6410325"/>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5766F"/>
                </a:solidFill>
                <a:latin typeface="Calibri"/>
                <a:ea typeface="Calibri"/>
                <a:cs typeface="Calibri"/>
              </a:defRPr>
            </a:defPPr>
          </a:lstStyle>
          <a:p xmlns:a="http://schemas.openxmlformats.org/drawingml/2006/main">
            <a:pPr>
              <a:buNone/>
              <a:defRPr sz="1275" b="0">
                <a:solidFill>
                  <a:srgbClr val="65766F"/>
                </a:solidFill>
                <a:latin typeface="Calibri"/>
                <a:ea typeface="Calibri"/>
                <a:cs typeface="Calibri"/>
              </a:defRPr>
            </a:pPr>
            <a:r>
              <a:rPr sz="1275" b="0">
                <a:solidFill>
                  <a:srgbClr val="65766F"/>
                </a:solidFill>
                <a:latin typeface="Calibri"/>
                <a:ea typeface="Calibri"/>
                <a:cs typeface="Calibri"/>
              </a:rPr>
              <a:t>Jingcheng Zhou and Junliang Lyu</a:t>
            </a:r>
          </a:p>
        </p:txBody>
      </p:sp>
      <p:sp>
        <p:nvSpPr>
          <p:cNvPr id="5" name="">
            <a:extLst xmlns:a="http://schemas.openxmlformats.org/drawingml/2006/main">
              <a:ext uri="{FF2B5EF4-FFF2-40B4-BE49-F238E27FC236}">
                <a16:creationId xmlns:a16="http://schemas.microsoft.com/office/drawing/2014/main" id="{B5CFF31A-098F-45A9-A406-30B2B5FB760E}"/>
              </a:ext>
            </a:extLst>
          </p:cNvPr>
          <p:cNvSpPr>
            <a:spLocks xmlns:a="http://schemas.openxmlformats.org/drawingml/2006/main" noGrp="1"/>
          </p:cNvSpPr>
          <p:nvPr/>
        </p:nvSpPr>
        <p:spPr>
          <a:xfrm xmlns:a="http://schemas.openxmlformats.org/drawingml/2006/main">
            <a:off x="10953750" y="641032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5766F"/>
                </a:solidFill>
                <a:latin typeface="Calibri"/>
                <a:ea typeface="Calibri"/>
                <a:cs typeface="Calibri"/>
              </a:defRPr>
            </a:defPPr>
          </a:lstStyle>
          <a:p xmlns:a="http://schemas.openxmlformats.org/drawingml/2006/main">
            <a:pPr>
              <a:buNone/>
              <a:defRPr sz="1275" b="0">
                <a:solidFill>
                  <a:srgbClr val="65766F"/>
                </a:solidFill>
                <a:latin typeface="Calibri"/>
                <a:ea typeface="Calibri"/>
                <a:cs typeface="Calibri"/>
              </a:defRPr>
            </a:pPr>
            <a:r>
              <a:rPr sz="1275" b="0">
                <a:solidFill>
                  <a:srgbClr val="65766F"/>
                </a:solidFill>
                <a:latin typeface="Calibri"/>
                <a:ea typeface="Calibri"/>
                <a:cs typeface="Calibri"/>
              </a:rPr>
              <a:t>4 / 5</a:t>
            </a:r>
          </a:p>
        </p:txBody>
      </p:sp>
      <p:sp>
        <p:nvSpPr>
          <p:cNvPr id="6" name="">
            <a:extLst xmlns:a="http://schemas.openxmlformats.org/drawingml/2006/main">
              <a:ext uri="{FF2B5EF4-FFF2-40B4-BE49-F238E27FC236}">
                <a16:creationId xmlns:a16="http://schemas.microsoft.com/office/drawing/2014/main" id="{DCC1894B-B59C-40A2-A1BC-D334BCFA4A15}"/>
              </a:ext>
            </a:extLst>
          </p:cNvPr>
          <p:cNvSpPr>
            <a:spLocks xmlns:a="http://schemas.openxmlformats.org/drawingml/2006/main" noGrp="1"/>
          </p:cNvSpPr>
          <p:nvPr/>
        </p:nvSpPr>
        <p:spPr>
          <a:xfrm xmlns:a="http://schemas.openxmlformats.org/drawingml/2006/main">
            <a:off x="609600" y="1809750"/>
            <a:ext cx="4905375"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183D36"/>
                </a:solidFill>
                <a:latin typeface="Calibri"/>
                <a:ea typeface="Calibri"/>
                <a:cs typeface="Calibri"/>
              </a:defRPr>
            </a:defPPr>
          </a:lstStyle>
          <a:p xmlns:a="http://schemas.openxmlformats.org/drawingml/2006/main">
            <a:pPr>
              <a:buNone/>
              <a:defRPr sz="2475" b="1">
                <a:solidFill>
                  <a:srgbClr val="183D36"/>
                </a:solidFill>
                <a:latin typeface="Calibri"/>
                <a:ea typeface="Calibri"/>
                <a:cs typeface="Calibri"/>
              </a:defRPr>
            </a:pPr>
            <a:r>
              <a:rPr sz="2475" b="1">
                <a:solidFill>
                  <a:srgbClr val="183D36"/>
                </a:solidFill>
                <a:latin typeface="Calibri"/>
                <a:ea typeface="Calibri"/>
                <a:cs typeface="Calibri"/>
              </a:rPr>
              <a:t>“Explain the result.”</a:t>
            </a:r>
          </a:p>
        </p:txBody>
      </p:sp>
      <p:sp>
        <p:nvSpPr>
          <p:cNvPr id="7" name="">
            <a:extLst xmlns:a="http://schemas.openxmlformats.org/drawingml/2006/main">
              <a:ext uri="{FF2B5EF4-FFF2-40B4-BE49-F238E27FC236}">
                <a16:creationId xmlns:a16="http://schemas.microsoft.com/office/drawing/2014/main" id="{6A6DAC5E-92AF-4813-903A-A2108D2D4600}"/>
              </a:ext>
            </a:extLst>
          </p:cNvPr>
          <p:cNvSpPr>
            <a:spLocks xmlns:a="http://schemas.openxmlformats.org/drawingml/2006/main" noGrp="1"/>
          </p:cNvSpPr>
          <p:nvPr/>
        </p:nvSpPr>
        <p:spPr>
          <a:xfrm xmlns:a="http://schemas.openxmlformats.org/drawingml/2006/main">
            <a:off x="609600" y="2486025"/>
            <a:ext cx="48958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83D36"/>
                </a:solidFill>
                <a:latin typeface="Calibri"/>
                <a:ea typeface="Calibri"/>
                <a:cs typeface="Calibri"/>
              </a:defRPr>
            </a:defPPr>
          </a:lstStyle>
          <a:p xmlns:a="http://schemas.openxmlformats.org/drawingml/2006/main">
            <a:pPr>
              <a:buNone/>
              <a:defRPr sz="2100" b="0">
                <a:solidFill>
                  <a:srgbClr val="183D36"/>
                </a:solidFill>
                <a:latin typeface="Calibri"/>
                <a:ea typeface="Calibri"/>
                <a:cs typeface="Calibri"/>
              </a:defRPr>
            </a:pPr>
            <a:r>
              <a:rPr sz="2100" b="0">
                <a:solidFill>
                  <a:srgbClr val="183D36"/>
                </a:solidFill>
                <a:latin typeface="Calibri"/>
                <a:ea typeface="Calibri"/>
                <a:cs typeface="Calibri"/>
              </a:rPr>
              <a:t>Reuse validated statistics</a:t>
            </a:r>
          </a:p>
          <a:p xmlns:a="http://schemas.openxmlformats.org/drawingml/2006/main">
            <a:pPr>
              <a:buNone/>
              <a:defRPr sz="2100" b="0">
                <a:solidFill>
                  <a:srgbClr val="183D36"/>
                </a:solidFill>
                <a:latin typeface="Calibri"/>
                <a:ea typeface="Calibri"/>
                <a:cs typeface="Calibri"/>
              </a:defRPr>
            </a:pPr>
            <a:r>
              <a:rPr sz="2100" b="0">
                <a:solidFill>
                  <a:srgbClr val="183D36"/>
                </a:solidFill>
                <a:latin typeface="Calibri"/>
                <a:ea typeface="Calibri"/>
                <a:cs typeface="Calibri"/>
              </a:rPr>
              <a:t>Draft and review fresh prose</a:t>
            </a:r>
          </a:p>
          <a:p xmlns:a="http://schemas.openxmlformats.org/drawingml/2006/main">
            <a:pPr>
              <a:buNone/>
              <a:defRPr sz="2100" b="0">
                <a:solidFill>
                  <a:srgbClr val="183D36"/>
                </a:solidFill>
                <a:latin typeface="Calibri"/>
                <a:ea typeface="Calibri"/>
                <a:cs typeface="Calibri"/>
              </a:defRPr>
            </a:pPr>
            <a:r>
              <a:rPr sz="2100" b="0">
                <a:solidFill>
                  <a:srgbClr val="183D36"/>
                </a:solidFill>
                <a:latin typeface="Calibri"/>
                <a:ea typeface="Calibri"/>
                <a:cs typeface="Calibri"/>
              </a:rPr>
              <a:t>Memory lasts for one process</a:t>
            </a:r>
          </a:p>
        </p:txBody>
      </p:sp>
      <p:sp>
        <p:nvSpPr>
          <p:cNvPr id="8" name="">
            <a:extLst xmlns:a="http://schemas.openxmlformats.org/drawingml/2006/main">
              <a:ext uri="{FF2B5EF4-FFF2-40B4-BE49-F238E27FC236}">
                <a16:creationId xmlns:a16="http://schemas.microsoft.com/office/drawing/2014/main" id="{97C43EA7-6804-4E1E-A479-BC116E8E1FE3}"/>
              </a:ext>
            </a:extLst>
          </p:cNvPr>
          <p:cNvSpPr>
            <a:spLocks xmlns:a="http://schemas.openxmlformats.org/drawingml/2006/main" noGrp="1"/>
          </p:cNvSpPr>
          <p:nvPr/>
        </p:nvSpPr>
        <p:spPr>
          <a:xfrm xmlns:a="http://schemas.openxmlformats.org/drawingml/2006/main">
            <a:off x="6591300" y="1809750"/>
            <a:ext cx="49339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75" b="1">
                <a:solidFill>
                  <a:srgbClr val="183D36"/>
                </a:solidFill>
                <a:latin typeface="Calibri"/>
                <a:ea typeface="Calibri"/>
                <a:cs typeface="Calibri"/>
              </a:defRPr>
            </a:defPPr>
          </a:lstStyle>
          <a:p xmlns:a="http://schemas.openxmlformats.org/drawingml/2006/main">
            <a:pPr>
              <a:buNone/>
              <a:defRPr sz="2475" b="1">
                <a:solidFill>
                  <a:srgbClr val="183D36"/>
                </a:solidFill>
                <a:latin typeface="Calibri"/>
                <a:ea typeface="Calibri"/>
                <a:cs typeface="Calibri"/>
              </a:defRPr>
            </a:pPr>
            <a:r>
              <a:rPr sz="2475" b="1">
                <a:solidFill>
                  <a:srgbClr val="183D36"/>
                </a:solidFill>
                <a:latin typeface="Calibri"/>
                <a:ea typeface="Calibri"/>
                <a:cs typeface="Calibri"/>
              </a:rPr>
              <a:t>“Report a 99% CI.”</a:t>
            </a:r>
          </a:p>
        </p:txBody>
      </p:sp>
      <p:sp>
        <p:nvSpPr>
          <p:cNvPr id="9" name="">
            <a:extLst xmlns:a="http://schemas.openxmlformats.org/drawingml/2006/main">
              <a:ext uri="{FF2B5EF4-FFF2-40B4-BE49-F238E27FC236}">
                <a16:creationId xmlns:a16="http://schemas.microsoft.com/office/drawing/2014/main" id="{12E6CB26-253E-4183-8191-273A27439D27}"/>
              </a:ext>
            </a:extLst>
          </p:cNvPr>
          <p:cNvSpPr>
            <a:spLocks xmlns:a="http://schemas.openxmlformats.org/drawingml/2006/main" noGrp="1"/>
          </p:cNvSpPr>
          <p:nvPr/>
        </p:nvSpPr>
        <p:spPr>
          <a:xfrm xmlns:a="http://schemas.openxmlformats.org/drawingml/2006/main">
            <a:off x="6591300" y="2486025"/>
            <a:ext cx="49530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83D36"/>
                </a:solidFill>
                <a:latin typeface="Calibri"/>
                <a:ea typeface="Calibri"/>
                <a:cs typeface="Calibri"/>
              </a:defRPr>
            </a:defPPr>
          </a:lstStyle>
          <a:p xmlns:a="http://schemas.openxmlformats.org/drawingml/2006/main">
            <a:pPr>
              <a:buNone/>
              <a:defRPr sz="2100" b="0">
                <a:solidFill>
                  <a:srgbClr val="183D36"/>
                </a:solidFill>
                <a:latin typeface="Calibri"/>
                <a:ea typeface="Calibri"/>
                <a:cs typeface="Calibri"/>
              </a:defRPr>
            </a:pPr>
            <a:r>
              <a:rPr sz="2100" b="0">
                <a:solidFill>
                  <a:srgbClr val="183D36"/>
                </a:solidFill>
                <a:latin typeface="Calibri"/>
                <a:ea typeface="Calibri"/>
                <a:cs typeface="Calibri"/>
              </a:rPr>
              <a:t>Recompute CI: [1.68, 12.16]</a:t>
            </a:r>
          </a:p>
          <a:p xmlns:a="http://schemas.openxmlformats.org/drawingml/2006/main">
            <a:pPr>
              <a:buNone/>
              <a:defRPr sz="2100" b="0">
                <a:solidFill>
                  <a:srgbClr val="183D36"/>
                </a:solidFill>
                <a:latin typeface="Calibri"/>
                <a:ea typeface="Calibri"/>
                <a:cs typeface="Calibri"/>
              </a:defRPr>
            </a:pPr>
            <a:r>
              <a:rPr sz="2100" b="0">
                <a:solidFill>
                  <a:srgbClr val="183D36"/>
                </a:solidFill>
                <a:latin typeface="Calibri"/>
                <a:ea typeface="Calibri"/>
                <a:cs typeface="Calibri"/>
              </a:rPr>
              <a:t>Same estimate, p-value and α</a:t>
            </a:r>
          </a:p>
          <a:p xmlns:a="http://schemas.openxmlformats.org/drawingml/2006/main">
            <a:pPr>
              <a:buNone/>
              <a:defRPr sz="2100" b="0">
                <a:solidFill>
                  <a:srgbClr val="183D36"/>
                </a:solidFill>
                <a:latin typeface="Calibri"/>
                <a:ea typeface="Calibri"/>
                <a:cs typeface="Calibri"/>
              </a:defRPr>
            </a:pPr>
            <a:r>
              <a:rPr sz="2100" b="0">
                <a:solidFill>
                  <a:srgbClr val="183D36"/>
                </a:solidFill>
                <a:latin typeface="Calibri"/>
                <a:ea typeface="Calibri"/>
                <a:cs typeface="Calibri"/>
              </a:rPr>
              <a:t>Filtering requires a new CSV</a:t>
            </a:r>
          </a:p>
        </p:txBody>
      </p:sp>
      <p:sp>
        <p:nvSpPr>
          <p:cNvPr id="10" name="">
            <a:extLst xmlns:a="http://schemas.openxmlformats.org/drawingml/2006/main">
              <a:ext uri="{FF2B5EF4-FFF2-40B4-BE49-F238E27FC236}">
                <a16:creationId xmlns:a16="http://schemas.microsoft.com/office/drawing/2014/main" id="{A5B51101-4E74-491A-8622-FB802820A44F}"/>
              </a:ext>
            </a:extLst>
          </p:cNvPr>
          <p:cNvSpPr>
            <a:spLocks xmlns:a="http://schemas.openxmlformats.org/drawingml/2006/main" noGrp="1"/>
          </p:cNvSpPr>
          <p:nvPr/>
        </p:nvSpPr>
        <p:spPr>
          <a:xfrm xmlns:a="http://schemas.openxmlformats.org/drawingml/2006/main">
            <a:off x="5953125" y="1800225"/>
            <a:ext cx="19050" cy="1971675"/>
          </a:xfrm>
          <a:prstGeom xmlns:a="http://schemas.openxmlformats.org/drawingml/2006/main" prst="rect">
            <a:avLst/>
          </a:prstGeom>
          <a:solidFill xmlns:a="http://schemas.openxmlformats.org/drawingml/2006/main">
            <a:srgbClr val="65766F"/>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A0070331-9EE5-4F30-9958-4BE5FB2F4E0B}"/>
              </a:ext>
            </a:extLst>
          </p:cNvPr>
          <p:cNvSpPr>
            <a:spLocks xmlns:a="http://schemas.openxmlformats.org/drawingml/2006/main" noGrp="1"/>
          </p:cNvSpPr>
          <p:nvPr/>
        </p:nvSpPr>
        <p:spPr>
          <a:xfrm xmlns:a="http://schemas.openxmlformats.org/drawingml/2006/main">
            <a:off x="609600" y="42672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1">
                <a:solidFill>
                  <a:srgbClr val="BD5036"/>
                </a:solidFill>
                <a:latin typeface="Calibri"/>
                <a:ea typeface="Calibri"/>
                <a:cs typeface="Calibri"/>
              </a:defRPr>
            </a:defPPr>
          </a:lstStyle>
          <a:p xmlns:a="http://schemas.openxmlformats.org/drawingml/2006/main">
            <a:pPr>
              <a:buNone/>
              <a:defRPr sz="1500" b="1">
                <a:solidFill>
                  <a:srgbClr val="BD5036"/>
                </a:solidFill>
                <a:latin typeface="Calibri"/>
                <a:ea typeface="Calibri"/>
                <a:cs typeface="Calibri"/>
              </a:defRPr>
            </a:pPr>
            <a:r>
              <a:rPr sz="1500" b="1">
                <a:solidFill>
                  <a:srgbClr val="BD5036"/>
                </a:solidFill>
                <a:latin typeface="Calibri"/>
                <a:ea typeface="Calibri"/>
                <a:cs typeface="Calibri"/>
              </a:rPr>
              <a:t>EVALUATION EVIDENCE</a:t>
            </a:r>
          </a:p>
        </p:txBody>
      </p:sp>
      <p:sp>
        <p:nvSpPr>
          <p:cNvPr id="12" name="">
            <a:extLst xmlns:a="http://schemas.openxmlformats.org/drawingml/2006/main">
              <a:ext uri="{FF2B5EF4-FFF2-40B4-BE49-F238E27FC236}">
                <a16:creationId xmlns:a16="http://schemas.microsoft.com/office/drawing/2014/main" id="{F5DD0085-58D7-42DF-B04F-324B01324252}"/>
              </a:ext>
            </a:extLst>
          </p:cNvPr>
          <p:cNvSpPr>
            <a:spLocks xmlns:a="http://schemas.openxmlformats.org/drawingml/2006/main" noGrp="1"/>
          </p:cNvSpPr>
          <p:nvPr/>
        </p:nvSpPr>
        <p:spPr>
          <a:xfrm xmlns:a="http://schemas.openxmlformats.org/drawingml/2006/main">
            <a:off x="609600" y="4714875"/>
            <a:ext cx="320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83D36"/>
                </a:solidFill>
                <a:latin typeface="Calibri"/>
                <a:ea typeface="Calibri"/>
                <a:cs typeface="Calibri"/>
              </a:defRPr>
            </a:defPPr>
          </a:lstStyle>
          <a:p xmlns:a="http://schemas.openxmlformats.org/drawingml/2006/main">
            <a:pPr>
              <a:buNone/>
              <a:defRPr sz="2400" b="1">
                <a:solidFill>
                  <a:srgbClr val="183D36"/>
                </a:solidFill>
                <a:latin typeface="Calibri"/>
                <a:ea typeface="Calibri"/>
                <a:cs typeface="Calibri"/>
              </a:defRPr>
            </a:pPr>
            <a:r>
              <a:rPr sz="2400" b="1">
                <a:solidFill>
                  <a:srgbClr val="183D36"/>
                </a:solidFill>
                <a:latin typeface="Calibri"/>
                <a:ea typeface="Calibri"/>
                <a:cs typeface="Calibri"/>
              </a:rPr>
              <a:t>192 tests</a:t>
            </a:r>
          </a:p>
        </p:txBody>
      </p:sp>
      <p:sp>
        <p:nvSpPr>
          <p:cNvPr id="13" name="">
            <a:extLst xmlns:a="http://schemas.openxmlformats.org/drawingml/2006/main">
              <a:ext uri="{FF2B5EF4-FFF2-40B4-BE49-F238E27FC236}">
                <a16:creationId xmlns:a16="http://schemas.microsoft.com/office/drawing/2014/main" id="{F2C86C8B-DE63-444F-A31E-E8116CBAF61D}"/>
              </a:ext>
            </a:extLst>
          </p:cNvPr>
          <p:cNvSpPr>
            <a:spLocks xmlns:a="http://schemas.openxmlformats.org/drawingml/2006/main" noGrp="1"/>
          </p:cNvSpPr>
          <p:nvPr/>
        </p:nvSpPr>
        <p:spPr>
          <a:xfrm xmlns:a="http://schemas.openxmlformats.org/drawingml/2006/main">
            <a:off x="609600" y="5210175"/>
            <a:ext cx="32004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83D36"/>
                </a:solidFill>
                <a:latin typeface="Calibri"/>
                <a:ea typeface="Calibri"/>
                <a:cs typeface="Calibri"/>
              </a:defRPr>
            </a:defPPr>
          </a:lstStyle>
          <a:p xmlns:a="http://schemas.openxmlformats.org/drawingml/2006/main">
            <a:pPr>
              <a:buNone/>
              <a:defRPr sz="1875" b="0">
                <a:solidFill>
                  <a:srgbClr val="183D36"/>
                </a:solidFill>
                <a:latin typeface="Calibri"/>
                <a:ea typeface="Calibri"/>
                <a:cs typeface="Calibri"/>
              </a:defRPr>
            </a:pPr>
            <a:r>
              <a:rPr sz="1875" b="0">
                <a:solidFill>
                  <a:srgbClr val="183D36"/>
                </a:solidFill>
                <a:latin typeface="Calibri"/>
                <a:ea typeface="Calibri"/>
                <a:cs typeface="Calibri"/>
              </a:rPr>
              <a:t>Software checks passed</a:t>
            </a:r>
          </a:p>
          <a:p xmlns:a="http://schemas.openxmlformats.org/drawingml/2006/main">
            <a:pPr>
              <a:buNone/>
              <a:defRPr sz="1875" b="0">
                <a:solidFill>
                  <a:srgbClr val="183D36"/>
                </a:solidFill>
                <a:latin typeface="Calibri"/>
                <a:ea typeface="Calibri"/>
                <a:cs typeface="Calibri"/>
              </a:defRPr>
            </a:pPr>
            <a:r>
              <a:rPr sz="1875" b="0">
                <a:solidFill>
                  <a:srgbClr val="183D36"/>
                </a:solidFill>
                <a:latin typeface="Calibri"/>
                <a:ea typeface="Calibri"/>
                <a:cs typeface="Calibri"/>
              </a:rPr>
              <a:t>Mock models + real statistics</a:t>
            </a:r>
          </a:p>
        </p:txBody>
      </p:sp>
      <p:sp>
        <p:nvSpPr>
          <p:cNvPr id="14" name="">
            <a:extLst xmlns:a="http://schemas.openxmlformats.org/drawingml/2006/main">
              <a:ext uri="{FF2B5EF4-FFF2-40B4-BE49-F238E27FC236}">
                <a16:creationId xmlns:a16="http://schemas.microsoft.com/office/drawing/2014/main" id="{E4878342-7F5E-4F45-B98D-D0DE62A29AB5}"/>
              </a:ext>
            </a:extLst>
          </p:cNvPr>
          <p:cNvSpPr>
            <a:spLocks xmlns:a="http://schemas.openxmlformats.org/drawingml/2006/main" noGrp="1"/>
          </p:cNvSpPr>
          <p:nvPr/>
        </p:nvSpPr>
        <p:spPr>
          <a:xfrm xmlns:a="http://schemas.openxmlformats.org/drawingml/2006/main">
            <a:off x="4343400" y="4714875"/>
            <a:ext cx="27336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83D36"/>
                </a:solidFill>
                <a:latin typeface="Calibri"/>
                <a:ea typeface="Calibri"/>
                <a:cs typeface="Calibri"/>
              </a:defRPr>
            </a:defPPr>
          </a:lstStyle>
          <a:p xmlns:a="http://schemas.openxmlformats.org/drawingml/2006/main">
            <a:pPr>
              <a:buNone/>
              <a:defRPr sz="2850" b="1">
                <a:solidFill>
                  <a:srgbClr val="183D36"/>
                </a:solidFill>
                <a:latin typeface="Calibri"/>
                <a:ea typeface="Calibri"/>
                <a:cs typeface="Calibri"/>
              </a:defRPr>
            </a:pPr>
            <a:r>
              <a:rPr sz="2850" b="1">
                <a:solidFill>
                  <a:srgbClr val="183D36"/>
                </a:solidFill>
                <a:latin typeface="Calibri"/>
                <a:ea typeface="Calibri"/>
                <a:cs typeface="Calibri"/>
              </a:rPr>
              <a:t>27 / 31</a:t>
            </a:r>
          </a:p>
        </p:txBody>
      </p:sp>
      <p:sp>
        <p:nvSpPr>
          <p:cNvPr id="15" name="">
            <a:extLst xmlns:a="http://schemas.openxmlformats.org/drawingml/2006/main">
              <a:ext uri="{FF2B5EF4-FFF2-40B4-BE49-F238E27FC236}">
                <a16:creationId xmlns:a16="http://schemas.microsoft.com/office/drawing/2014/main" id="{F2BA1B67-9377-4591-AA3C-FBF3338F47D6}"/>
              </a:ext>
            </a:extLst>
          </p:cNvPr>
          <p:cNvSpPr>
            <a:spLocks xmlns:a="http://schemas.openxmlformats.org/drawingml/2006/main" noGrp="1"/>
          </p:cNvSpPr>
          <p:nvPr/>
        </p:nvSpPr>
        <p:spPr>
          <a:xfrm xmlns:a="http://schemas.openxmlformats.org/drawingml/2006/main">
            <a:off x="4343400" y="5210175"/>
            <a:ext cx="29241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83D36"/>
                </a:solidFill>
                <a:latin typeface="Calibri"/>
                <a:ea typeface="Calibri"/>
                <a:cs typeface="Calibri"/>
              </a:defRPr>
            </a:defPPr>
          </a:lstStyle>
          <a:p xmlns:a="http://schemas.openxmlformats.org/drawingml/2006/main">
            <a:pPr>
              <a:buNone/>
              <a:defRPr sz="1875" b="0">
                <a:solidFill>
                  <a:srgbClr val="183D36"/>
                </a:solidFill>
                <a:latin typeface="Calibri"/>
                <a:ea typeface="Calibri"/>
                <a:cs typeface="Calibri"/>
              </a:defRPr>
            </a:pPr>
            <a:r>
              <a:rPr sz="1875" b="0">
                <a:solidFill>
                  <a:srgbClr val="183D36"/>
                </a:solidFill>
                <a:latin typeface="Calibri"/>
                <a:ea typeface="Calibri"/>
                <a:cs typeface="Calibri"/>
              </a:rPr>
              <a:t>Live workflow checks</a:t>
            </a:r>
          </a:p>
          <a:p xmlns:a="http://schemas.openxmlformats.org/drawingml/2006/main">
            <a:pPr>
              <a:buNone/>
              <a:defRPr sz="1875" b="0">
                <a:solidFill>
                  <a:srgbClr val="183D36"/>
                </a:solidFill>
                <a:latin typeface="Calibri"/>
                <a:ea typeface="Calibri"/>
                <a:cs typeface="Calibri"/>
              </a:defRPr>
            </a:pPr>
            <a:r>
              <a:rPr sz="1875" b="0">
                <a:solidFill>
                  <a:srgbClr val="183D36"/>
                </a:solidFill>
                <a:latin typeface="Calibri"/>
                <a:ea typeface="Calibri"/>
                <a:cs typeface="Calibri"/>
              </a:rPr>
              <a:t>Failures retained</a:t>
            </a:r>
          </a:p>
        </p:txBody>
      </p:sp>
      <p:sp>
        <p:nvSpPr>
          <p:cNvPr id="16" name="">
            <a:extLst xmlns:a="http://schemas.openxmlformats.org/drawingml/2006/main">
              <a:ext uri="{FF2B5EF4-FFF2-40B4-BE49-F238E27FC236}">
                <a16:creationId xmlns:a16="http://schemas.microsoft.com/office/drawing/2014/main" id="{69DB2B67-F120-440E-AC89-74781E6A7555}"/>
              </a:ext>
            </a:extLst>
          </p:cNvPr>
          <p:cNvSpPr>
            <a:spLocks xmlns:a="http://schemas.openxmlformats.org/drawingml/2006/main" noGrp="1"/>
          </p:cNvSpPr>
          <p:nvPr/>
        </p:nvSpPr>
        <p:spPr>
          <a:xfrm xmlns:a="http://schemas.openxmlformats.org/drawingml/2006/main">
            <a:off x="8143875" y="4714875"/>
            <a:ext cx="323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83D36"/>
                </a:solidFill>
                <a:latin typeface="Calibri"/>
                <a:ea typeface="Calibri"/>
                <a:cs typeface="Calibri"/>
              </a:defRPr>
            </a:defPPr>
          </a:lstStyle>
          <a:p xmlns:a="http://schemas.openxmlformats.org/drawingml/2006/main">
            <a:pPr>
              <a:buNone/>
              <a:defRPr sz="2850" b="1">
                <a:solidFill>
                  <a:srgbClr val="183D36"/>
                </a:solidFill>
                <a:latin typeface="Calibri"/>
                <a:ea typeface="Calibri"/>
                <a:cs typeface="Calibri"/>
              </a:defRPr>
            </a:pPr>
            <a:r>
              <a:rPr sz="2850" b="1">
                <a:solidFill>
                  <a:srgbClr val="183D36"/>
                </a:solidFill>
                <a:latin typeface="Calibri"/>
                <a:ea typeface="Calibri"/>
                <a:cs typeface="Calibri"/>
              </a:rPr>
              <a:t>10 / 12</a:t>
            </a:r>
          </a:p>
        </p:txBody>
      </p:sp>
      <p:sp>
        <p:nvSpPr>
          <p:cNvPr id="17" name="">
            <a:extLst xmlns:a="http://schemas.openxmlformats.org/drawingml/2006/main">
              <a:ext uri="{FF2B5EF4-FFF2-40B4-BE49-F238E27FC236}">
                <a16:creationId xmlns:a16="http://schemas.microsoft.com/office/drawing/2014/main" id="{C76760F5-C03F-4B7E-82F0-A5404732E1CC}"/>
              </a:ext>
            </a:extLst>
          </p:cNvPr>
          <p:cNvSpPr>
            <a:spLocks xmlns:a="http://schemas.openxmlformats.org/drawingml/2006/main" noGrp="1"/>
          </p:cNvSpPr>
          <p:nvPr/>
        </p:nvSpPr>
        <p:spPr>
          <a:xfrm xmlns:a="http://schemas.openxmlformats.org/drawingml/2006/main">
            <a:off x="8143875" y="5210175"/>
            <a:ext cx="3343275"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83D36"/>
                </a:solidFill>
                <a:latin typeface="Calibri"/>
                <a:ea typeface="Calibri"/>
                <a:cs typeface="Calibri"/>
              </a:defRPr>
            </a:defPPr>
          </a:lstStyle>
          <a:p xmlns:a="http://schemas.openxmlformats.org/drawingml/2006/main">
            <a:pPr>
              <a:buNone/>
              <a:defRPr sz="1875" b="0">
                <a:solidFill>
                  <a:srgbClr val="183D36"/>
                </a:solidFill>
                <a:latin typeface="Calibri"/>
                <a:ea typeface="Calibri"/>
                <a:cs typeface="Calibri"/>
              </a:defRPr>
            </a:pPr>
            <a:r>
              <a:rPr sz="1875" b="0">
                <a:solidFill>
                  <a:srgbClr val="183D36"/>
                </a:solidFill>
                <a:latin typeface="Calibri"/>
                <a:ea typeface="Calibri"/>
                <a:cs typeface="Calibri"/>
              </a:rPr>
              <a:t>Planted errors caught</a:t>
            </a:r>
          </a:p>
          <a:p xmlns:a="http://schemas.openxmlformats.org/drawingml/2006/main">
            <a:pPr>
              <a:buNone/>
              <a:defRPr sz="1875" b="0">
                <a:solidFill>
                  <a:srgbClr val="183D36"/>
                </a:solidFill>
                <a:latin typeface="Calibri"/>
                <a:ea typeface="Calibri"/>
                <a:cs typeface="Calibri"/>
              </a:defRPr>
            </a:pPr>
            <a:r>
              <a:rPr sz="1875" b="0">
                <a:solidFill>
                  <a:srgbClr val="183D36"/>
                </a:solidFill>
                <a:latin typeface="Calibri"/>
                <a:ea typeface="Calibri"/>
                <a:cs typeface="Calibri"/>
              </a:rPr>
              <a:t>Human scoring pending</a:t>
            </a:r>
          </a:p>
        </p:txBody>
      </p:sp>
    </p:spTree>
    <p:extLst>
      <p:ext uri="{BB962C8B-B14F-4D97-AF65-F5344CB8AC3E}">
        <p14:creationId xmlns:p14="http://schemas.microsoft.com/office/powerpoint/2010/main" val="1701872685"/>
      </p:ext>
    </p:extLst>
  </p:cSld>
</p:sld>
</file>

<file path=ppt/slides/slide5.xml><?xml version="1.0" encoding="utf-8"?>
<p:sld xmlns:p="http://schemas.openxmlformats.org/presentationml/2006/main">
  <p:cSld>
    <p:bg>
      <p:bgPr>
        <a:solidFill xmlns:a="http://schemas.openxmlformats.org/drawingml/2006/main">
          <a:srgbClr val="F7F5E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4FBA6F4-ED89-4132-AE32-C055BC95411F}"/>
              </a:ext>
            </a:extLst>
          </p:cNvPr>
          <p:cNvSpPr>
            <a:spLocks xmlns:a="http://schemas.openxmlformats.org/drawingml/2006/main" noGrp="1"/>
          </p:cNvSpPr>
          <p:nvPr/>
        </p:nvSpPr>
        <p:spPr>
          <a:xfrm xmlns:a="http://schemas.openxmlformats.org/drawingml/2006/main">
            <a:off x="609600" y="266700"/>
            <a:ext cx="666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BD5036"/>
                </a:solidFill>
                <a:latin typeface="Calibri"/>
                <a:ea typeface="Calibri"/>
                <a:cs typeface="Calibri"/>
              </a:defRPr>
            </a:defPPr>
          </a:lstStyle>
          <a:p xmlns:a="http://schemas.openxmlformats.org/drawingml/2006/main">
            <a:pPr>
              <a:buNone/>
              <a:defRPr sz="1275" b="1">
                <a:solidFill>
                  <a:srgbClr val="BD5036"/>
                </a:solidFill>
                <a:latin typeface="Calibri"/>
                <a:ea typeface="Calibri"/>
                <a:cs typeface="Calibri"/>
              </a:defRPr>
            </a:pPr>
            <a:r>
              <a:rPr sz="1275" b="1">
                <a:solidFill>
                  <a:srgbClr val="BD5036"/>
                </a:solidFill>
                <a:latin typeface="Calibri"/>
                <a:ea typeface="Calibri"/>
                <a:cs typeface="Calibri"/>
              </a:rPr>
              <a:t>CS7327  /  MIDTERM PROJECT</a:t>
            </a:r>
          </a:p>
        </p:txBody>
      </p:sp>
      <p:sp>
        <p:nvSpPr>
          <p:cNvPr id="2" name="">
            <a:extLst xmlns:a="http://schemas.openxmlformats.org/drawingml/2006/main">
              <a:ext uri="{FF2B5EF4-FFF2-40B4-BE49-F238E27FC236}">
                <a16:creationId xmlns:a16="http://schemas.microsoft.com/office/drawing/2014/main" id="{690C8C8A-B0C8-441B-AE23-F05A6EC567FC}"/>
              </a:ext>
            </a:extLst>
          </p:cNvPr>
          <p:cNvSpPr>
            <a:spLocks xmlns:a="http://schemas.openxmlformats.org/drawingml/2006/main" noGrp="1"/>
          </p:cNvSpPr>
          <p:nvPr/>
        </p:nvSpPr>
        <p:spPr>
          <a:xfrm xmlns:a="http://schemas.openxmlformats.org/drawingml/2006/main">
            <a:off x="609600" y="781050"/>
            <a:ext cx="10953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83D36"/>
                </a:solidFill>
                <a:latin typeface="Calibri"/>
                <a:ea typeface="Calibri"/>
                <a:cs typeface="Calibri"/>
              </a:defRPr>
            </a:defPPr>
          </a:lstStyle>
          <a:p xmlns:a="http://schemas.openxmlformats.org/drawingml/2006/main">
            <a:pPr>
              <a:buNone/>
              <a:defRPr sz="3225" b="1">
                <a:solidFill>
                  <a:srgbClr val="183D36"/>
                </a:solidFill>
                <a:latin typeface="Calibri"/>
                <a:ea typeface="Calibri"/>
                <a:cs typeface="Calibri"/>
              </a:defRPr>
            </a:pPr>
            <a:r>
              <a:rPr sz="3225" b="1">
                <a:solidFill>
                  <a:srgbClr val="183D36"/>
                </a:solidFill>
                <a:latin typeface="Calibri"/>
                <a:ea typeface="Calibri"/>
                <a:cs typeface="Calibri"/>
              </a:rPr>
              <a:t>Future work</a:t>
            </a:r>
          </a:p>
        </p:txBody>
      </p:sp>
      <p:sp>
        <p:nvSpPr>
          <p:cNvPr id="3" name="">
            <a:extLst xmlns:a="http://schemas.openxmlformats.org/drawingml/2006/main">
              <a:ext uri="{FF2B5EF4-FFF2-40B4-BE49-F238E27FC236}">
                <a16:creationId xmlns:a16="http://schemas.microsoft.com/office/drawing/2014/main" id="{8A852525-B496-47C7-ABFD-22E62AFD2998}"/>
              </a:ext>
            </a:extLst>
          </p:cNvPr>
          <p:cNvSpPr>
            <a:spLocks xmlns:a="http://schemas.openxmlformats.org/drawingml/2006/main" noGrp="1"/>
          </p:cNvSpPr>
          <p:nvPr/>
        </p:nvSpPr>
        <p:spPr>
          <a:xfrm xmlns:a="http://schemas.openxmlformats.org/drawingml/2006/main">
            <a:off x="609600" y="6286500"/>
            <a:ext cx="10972800" cy="19050"/>
          </a:xfrm>
          <a:prstGeom xmlns:a="http://schemas.openxmlformats.org/drawingml/2006/main" prst="rect">
            <a:avLst/>
          </a:prstGeom>
          <a:solidFill xmlns:a="http://schemas.openxmlformats.org/drawingml/2006/main">
            <a:srgbClr val="183D36"/>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1C7786D-49CA-4035-A5B2-B6B333AC7EA0}"/>
              </a:ext>
            </a:extLst>
          </p:cNvPr>
          <p:cNvSpPr>
            <a:spLocks xmlns:a="http://schemas.openxmlformats.org/drawingml/2006/main" noGrp="1"/>
          </p:cNvSpPr>
          <p:nvPr/>
        </p:nvSpPr>
        <p:spPr>
          <a:xfrm xmlns:a="http://schemas.openxmlformats.org/drawingml/2006/main">
            <a:off x="609600" y="6410325"/>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5766F"/>
                </a:solidFill>
                <a:latin typeface="Calibri"/>
                <a:ea typeface="Calibri"/>
                <a:cs typeface="Calibri"/>
              </a:defRPr>
            </a:defPPr>
          </a:lstStyle>
          <a:p xmlns:a="http://schemas.openxmlformats.org/drawingml/2006/main">
            <a:pPr>
              <a:buNone/>
              <a:defRPr sz="1275" b="0">
                <a:solidFill>
                  <a:srgbClr val="65766F"/>
                </a:solidFill>
                <a:latin typeface="Calibri"/>
                <a:ea typeface="Calibri"/>
                <a:cs typeface="Calibri"/>
              </a:defRPr>
            </a:pPr>
            <a:r>
              <a:rPr sz="1275" b="0">
                <a:solidFill>
                  <a:srgbClr val="65766F"/>
                </a:solidFill>
                <a:latin typeface="Calibri"/>
                <a:ea typeface="Calibri"/>
                <a:cs typeface="Calibri"/>
              </a:rPr>
              <a:t>Jingcheng Zhou and Junliang Lyu</a:t>
            </a:r>
          </a:p>
        </p:txBody>
      </p:sp>
      <p:sp>
        <p:nvSpPr>
          <p:cNvPr id="5" name="">
            <a:extLst xmlns:a="http://schemas.openxmlformats.org/drawingml/2006/main">
              <a:ext uri="{FF2B5EF4-FFF2-40B4-BE49-F238E27FC236}">
                <a16:creationId xmlns:a16="http://schemas.microsoft.com/office/drawing/2014/main" id="{D66A27A1-1257-4D7F-9146-A53071589029}"/>
              </a:ext>
            </a:extLst>
          </p:cNvPr>
          <p:cNvSpPr>
            <a:spLocks xmlns:a="http://schemas.openxmlformats.org/drawingml/2006/main" noGrp="1"/>
          </p:cNvSpPr>
          <p:nvPr/>
        </p:nvSpPr>
        <p:spPr>
          <a:xfrm xmlns:a="http://schemas.openxmlformats.org/drawingml/2006/main">
            <a:off x="10953750" y="6410325"/>
            <a:ext cx="628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65766F"/>
                </a:solidFill>
                <a:latin typeface="Calibri"/>
                <a:ea typeface="Calibri"/>
                <a:cs typeface="Calibri"/>
              </a:defRPr>
            </a:defPPr>
          </a:lstStyle>
          <a:p xmlns:a="http://schemas.openxmlformats.org/drawingml/2006/main">
            <a:pPr>
              <a:buNone/>
              <a:defRPr sz="1275" b="0">
                <a:solidFill>
                  <a:srgbClr val="65766F"/>
                </a:solidFill>
                <a:latin typeface="Calibri"/>
                <a:ea typeface="Calibri"/>
                <a:cs typeface="Calibri"/>
              </a:defRPr>
            </a:pPr>
            <a:r>
              <a:rPr sz="1275" b="0">
                <a:solidFill>
                  <a:srgbClr val="65766F"/>
                </a:solidFill>
                <a:latin typeface="Calibri"/>
                <a:ea typeface="Calibri"/>
                <a:cs typeface="Calibri"/>
              </a:rPr>
              <a:t>5 / 5</a:t>
            </a:r>
          </a:p>
        </p:txBody>
      </p:sp>
      <p:sp>
        <p:nvSpPr>
          <p:cNvPr id="6" name="">
            <a:extLst xmlns:a="http://schemas.openxmlformats.org/drawingml/2006/main">
              <a:ext uri="{FF2B5EF4-FFF2-40B4-BE49-F238E27FC236}">
                <a16:creationId xmlns:a16="http://schemas.microsoft.com/office/drawing/2014/main" id="{D6BFD200-8F6A-4053-B296-9875EE7C14C5}"/>
              </a:ext>
            </a:extLst>
          </p:cNvPr>
          <p:cNvSpPr>
            <a:spLocks xmlns:a="http://schemas.openxmlformats.org/drawingml/2006/main" noGrp="1"/>
          </p:cNvSpPr>
          <p:nvPr/>
        </p:nvSpPr>
        <p:spPr>
          <a:xfrm xmlns:a="http://schemas.openxmlformats.org/drawingml/2006/main">
            <a:off x="609600" y="1743075"/>
            <a:ext cx="11001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BD5036"/>
                </a:solidFill>
                <a:latin typeface="Calibri"/>
                <a:ea typeface="Calibri"/>
                <a:cs typeface="Calibri"/>
              </a:defRPr>
            </a:defPPr>
          </a:lstStyle>
          <a:p xmlns:a="http://schemas.openxmlformats.org/drawingml/2006/main">
            <a:pPr>
              <a:buNone/>
              <a:defRPr sz="1650" b="1">
                <a:solidFill>
                  <a:srgbClr val="BD5036"/>
                </a:solidFill>
                <a:latin typeface="Calibri"/>
                <a:ea typeface="Calibri"/>
                <a:cs typeface="Calibri"/>
              </a:defRPr>
            </a:pPr>
            <a:r>
              <a:rPr sz="1650" b="1">
                <a:solidFill>
                  <a:srgbClr val="BD5036"/>
                </a:solidFill>
                <a:latin typeface="Calibri"/>
                <a:ea typeface="Calibri"/>
                <a:cs typeface="Calibri"/>
              </a:rPr>
              <a:t>CURRENT SCOPE / Four methods, synthetic benchmarks, human data decisions</a:t>
            </a:r>
          </a:p>
        </p:txBody>
      </p:sp>
      <p:sp>
        <p:nvSpPr>
          <p:cNvPr id="7" name="">
            <a:extLst xmlns:a="http://schemas.openxmlformats.org/drawingml/2006/main">
              <a:ext uri="{FF2B5EF4-FFF2-40B4-BE49-F238E27FC236}">
                <a16:creationId xmlns:a16="http://schemas.microsoft.com/office/drawing/2014/main" id="{C447B7A4-F562-44A8-BFD9-510BD4DDB693}"/>
              </a:ext>
            </a:extLst>
          </p:cNvPr>
          <p:cNvSpPr>
            <a:spLocks xmlns:a="http://schemas.openxmlformats.org/drawingml/2006/main" noGrp="1"/>
          </p:cNvSpPr>
          <p:nvPr/>
        </p:nvSpPr>
        <p:spPr>
          <a:xfrm xmlns:a="http://schemas.openxmlformats.org/drawingml/2006/main">
            <a:off x="609600" y="2381250"/>
            <a:ext cx="10972800" cy="1171575"/>
          </a:xfrm>
          <a:prstGeom xmlns:a="http://schemas.openxmlformats.org/drawingml/2006/main" prst="rect">
            <a:avLst/>
          </a:prstGeom>
          <a:solidFill xmlns:a="http://schemas.openxmlformats.org/drawingml/2006/main">
            <a:srgbClr val="183D36"/>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CE797BB3-C11B-4076-A9A4-9D294E4F8FC0}"/>
              </a:ext>
            </a:extLst>
          </p:cNvPr>
          <p:cNvSpPr>
            <a:spLocks xmlns:a="http://schemas.openxmlformats.org/drawingml/2006/main" noGrp="1"/>
          </p:cNvSpPr>
          <p:nvPr/>
        </p:nvSpPr>
        <p:spPr>
          <a:xfrm xmlns:a="http://schemas.openxmlformats.org/drawingml/2006/main">
            <a:off x="828675" y="2638425"/>
            <a:ext cx="10477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700" b="1">
                <a:solidFill>
                  <a:srgbClr val="FFFFFF"/>
                </a:solidFill>
                <a:latin typeface="Calibri"/>
                <a:ea typeface="Calibri"/>
                <a:cs typeface="Calibri"/>
              </a:defRPr>
            </a:defPPr>
          </a:lstStyle>
          <a:p xmlns:a="http://schemas.openxmlformats.org/drawingml/2006/main">
            <a:pPr>
              <a:buNone/>
              <a:defRPr sz="2700" b="1">
                <a:solidFill>
                  <a:srgbClr val="FFFFFF"/>
                </a:solidFill>
                <a:latin typeface="Calibri"/>
                <a:ea typeface="Calibri"/>
                <a:cs typeface="Calibri"/>
              </a:defRPr>
            </a:pPr>
            <a:r>
              <a:rPr sz="2700" b="1">
                <a:solidFill>
                  <a:srgbClr val="FFFFFF"/>
                </a:solidFill>
                <a:latin typeface="Calibri"/>
                <a:ea typeface="Calibri"/>
                <a:cs typeface="Calibri"/>
              </a:rPr>
              <a:t>Independent human scoring is the next evaluation step</a:t>
            </a:r>
          </a:p>
        </p:txBody>
      </p:sp>
      <p:sp>
        <p:nvSpPr>
          <p:cNvPr id="9" name="">
            <a:extLst xmlns:a="http://schemas.openxmlformats.org/drawingml/2006/main">
              <a:ext uri="{FF2B5EF4-FFF2-40B4-BE49-F238E27FC236}">
                <a16:creationId xmlns:a16="http://schemas.microsoft.com/office/drawing/2014/main" id="{2CCE1608-20C9-43DE-B493-BA4F7666520B}"/>
              </a:ext>
            </a:extLst>
          </p:cNvPr>
          <p:cNvSpPr>
            <a:spLocks xmlns:a="http://schemas.openxmlformats.org/drawingml/2006/main" noGrp="1"/>
          </p:cNvSpPr>
          <p:nvPr/>
        </p:nvSpPr>
        <p:spPr>
          <a:xfrm xmlns:a="http://schemas.openxmlformats.org/drawingml/2006/main">
            <a:off x="609600" y="3981450"/>
            <a:ext cx="3381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83D36"/>
                </a:solidFill>
                <a:latin typeface="Calibri"/>
                <a:ea typeface="Calibri"/>
                <a:cs typeface="Calibri"/>
              </a:defRPr>
            </a:defPPr>
          </a:lstStyle>
          <a:p xmlns:a="http://schemas.openxmlformats.org/drawingml/2006/main">
            <a:pPr>
              <a:buNone/>
              <a:defRPr sz="2175" b="1">
                <a:solidFill>
                  <a:srgbClr val="183D36"/>
                </a:solidFill>
                <a:latin typeface="Calibri"/>
                <a:ea typeface="Calibri"/>
                <a:cs typeface="Calibri"/>
              </a:defRPr>
            </a:pPr>
            <a:r>
              <a:rPr sz="2175" b="1">
                <a:solidFill>
                  <a:srgbClr val="183D36"/>
                </a:solidFill>
                <a:latin typeface="Calibri"/>
                <a:ea typeface="Calibri"/>
                <a:cs typeface="Calibri"/>
              </a:rPr>
              <a:t>Human evaluation</a:t>
            </a:r>
          </a:p>
        </p:txBody>
      </p:sp>
      <p:sp>
        <p:nvSpPr>
          <p:cNvPr id="10" name="">
            <a:extLst xmlns:a="http://schemas.openxmlformats.org/drawingml/2006/main">
              <a:ext uri="{FF2B5EF4-FFF2-40B4-BE49-F238E27FC236}">
                <a16:creationId xmlns:a16="http://schemas.microsoft.com/office/drawing/2014/main" id="{324B6277-550E-4857-9F01-46E2F68F6F7F}"/>
              </a:ext>
            </a:extLst>
          </p:cNvPr>
          <p:cNvSpPr>
            <a:spLocks xmlns:a="http://schemas.openxmlformats.org/drawingml/2006/main" noGrp="1"/>
          </p:cNvSpPr>
          <p:nvPr/>
        </p:nvSpPr>
        <p:spPr>
          <a:xfrm xmlns:a="http://schemas.openxmlformats.org/drawingml/2006/main">
            <a:off x="609600" y="4524375"/>
            <a:ext cx="338137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83D36"/>
                </a:solidFill>
                <a:latin typeface="Calibri"/>
                <a:ea typeface="Calibri"/>
                <a:cs typeface="Calibri"/>
              </a:defRPr>
            </a:defPPr>
          </a:lstStyle>
          <a:p xmlns:a="http://schemas.openxmlformats.org/drawingml/2006/main">
            <a:pPr>
              <a:buNone/>
              <a:defRPr sz="2025" b="0">
                <a:solidFill>
                  <a:srgbClr val="183D36"/>
                </a:solidFill>
                <a:latin typeface="Calibri"/>
                <a:ea typeface="Calibri"/>
                <a:cs typeface="Calibri"/>
              </a:defRPr>
            </a:pPr>
            <a:r>
              <a:rPr sz="2025" b="0">
                <a:solidFill>
                  <a:srgbClr val="183D36"/>
                </a:solidFill>
                <a:latin typeface="Calibri"/>
                <a:ea typeface="Calibri"/>
                <a:cs typeface="Calibri"/>
              </a:rPr>
              <a:t>Score methods and numbers</a:t>
            </a:r>
          </a:p>
          <a:p xmlns:a="http://schemas.openxmlformats.org/drawingml/2006/main">
            <a:pPr>
              <a:buNone/>
              <a:defRPr sz="2025" b="0">
                <a:solidFill>
                  <a:srgbClr val="183D36"/>
                </a:solidFill>
                <a:latin typeface="Calibri"/>
                <a:ea typeface="Calibri"/>
                <a:cs typeface="Calibri"/>
              </a:defRPr>
            </a:pPr>
            <a:r>
              <a:rPr sz="2025" b="0">
                <a:solidFill>
                  <a:srgbClr val="183D36"/>
                </a:solidFill>
                <a:latin typeface="Calibri"/>
                <a:ea typeface="Calibri"/>
                <a:cs typeface="Calibri"/>
              </a:rPr>
              <a:t>Check statistical meaning</a:t>
            </a:r>
          </a:p>
          <a:p xmlns:a="http://schemas.openxmlformats.org/drawingml/2006/main">
            <a:pPr>
              <a:buNone/>
              <a:defRPr sz="2025" b="0">
                <a:solidFill>
                  <a:srgbClr val="183D36"/>
                </a:solidFill>
                <a:latin typeface="Calibri"/>
                <a:ea typeface="Calibri"/>
                <a:cs typeface="Calibri"/>
              </a:defRPr>
            </a:pPr>
            <a:r>
              <a:rPr sz="2025" b="0">
                <a:solidFill>
                  <a:srgbClr val="183D36"/>
                </a:solidFill>
                <a:latin typeface="Calibri"/>
                <a:ea typeface="Calibri"/>
                <a:cs typeface="Calibri"/>
              </a:rPr>
              <a:t>Human ratings pending</a:t>
            </a:r>
          </a:p>
        </p:txBody>
      </p:sp>
      <p:sp>
        <p:nvSpPr>
          <p:cNvPr id="11" name="">
            <a:extLst xmlns:a="http://schemas.openxmlformats.org/drawingml/2006/main">
              <a:ext uri="{FF2B5EF4-FFF2-40B4-BE49-F238E27FC236}">
                <a16:creationId xmlns:a16="http://schemas.microsoft.com/office/drawing/2014/main" id="{CD289297-FFAE-4296-A75F-AFB9B27B3A78}"/>
              </a:ext>
            </a:extLst>
          </p:cNvPr>
          <p:cNvSpPr>
            <a:spLocks xmlns:a="http://schemas.openxmlformats.org/drawingml/2006/main" noGrp="1"/>
          </p:cNvSpPr>
          <p:nvPr/>
        </p:nvSpPr>
        <p:spPr>
          <a:xfrm xmlns:a="http://schemas.openxmlformats.org/drawingml/2006/main">
            <a:off x="4476750" y="3981450"/>
            <a:ext cx="32480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83D36"/>
                </a:solidFill>
                <a:latin typeface="Calibri"/>
                <a:ea typeface="Calibri"/>
                <a:cs typeface="Calibri"/>
              </a:defRPr>
            </a:defPPr>
          </a:lstStyle>
          <a:p xmlns:a="http://schemas.openxmlformats.org/drawingml/2006/main">
            <a:pPr>
              <a:buNone/>
              <a:defRPr sz="2175" b="1">
                <a:solidFill>
                  <a:srgbClr val="183D36"/>
                </a:solidFill>
                <a:latin typeface="Calibri"/>
                <a:ea typeface="Calibri"/>
                <a:cs typeface="Calibri"/>
              </a:defRPr>
            </a:pPr>
            <a:r>
              <a:rPr sz="2175" b="1">
                <a:solidFill>
                  <a:srgbClr val="183D36"/>
                </a:solidFill>
                <a:latin typeface="Calibri"/>
                <a:ea typeface="Calibri"/>
                <a:cs typeface="Calibri"/>
              </a:rPr>
              <a:t>More methods</a:t>
            </a:r>
          </a:p>
        </p:txBody>
      </p:sp>
      <p:sp>
        <p:nvSpPr>
          <p:cNvPr id="12" name="">
            <a:extLst xmlns:a="http://schemas.openxmlformats.org/drawingml/2006/main">
              <a:ext uri="{FF2B5EF4-FFF2-40B4-BE49-F238E27FC236}">
                <a16:creationId xmlns:a16="http://schemas.microsoft.com/office/drawing/2014/main" id="{29976432-4237-4515-A27A-86EFA2C7ED95}"/>
              </a:ext>
            </a:extLst>
          </p:cNvPr>
          <p:cNvSpPr>
            <a:spLocks xmlns:a="http://schemas.openxmlformats.org/drawingml/2006/main" noGrp="1"/>
          </p:cNvSpPr>
          <p:nvPr/>
        </p:nvSpPr>
        <p:spPr>
          <a:xfrm xmlns:a="http://schemas.openxmlformats.org/drawingml/2006/main">
            <a:off x="4476750" y="4524375"/>
            <a:ext cx="32480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83D36"/>
                </a:solidFill>
                <a:latin typeface="Calibri"/>
                <a:ea typeface="Calibri"/>
                <a:cs typeface="Calibri"/>
              </a:defRPr>
            </a:defPPr>
          </a:lstStyle>
          <a:p xmlns:a="http://schemas.openxmlformats.org/drawingml/2006/main">
            <a:pPr>
              <a:buNone/>
              <a:defRPr sz="2025" b="0">
                <a:solidFill>
                  <a:srgbClr val="183D36"/>
                </a:solidFill>
                <a:latin typeface="Calibri"/>
                <a:ea typeface="Calibri"/>
                <a:cs typeface="Calibri"/>
              </a:defRPr>
            </a:pPr>
            <a:r>
              <a:rPr sz="2025" b="0">
                <a:solidFill>
                  <a:srgbClr val="183D36"/>
                </a:solidFill>
                <a:latin typeface="Calibri"/>
                <a:ea typeface="Calibri"/>
                <a:cs typeface="Calibri"/>
              </a:rPr>
              <a:t>Paired tests</a:t>
            </a:r>
          </a:p>
          <a:p xmlns:a="http://schemas.openxmlformats.org/drawingml/2006/main">
            <a:pPr>
              <a:buNone/>
              <a:defRPr sz="2025" b="0">
                <a:solidFill>
                  <a:srgbClr val="183D36"/>
                </a:solidFill>
                <a:latin typeface="Calibri"/>
                <a:ea typeface="Calibri"/>
                <a:cs typeface="Calibri"/>
              </a:defRPr>
            </a:pPr>
            <a:r>
              <a:rPr sz="2025" b="0">
                <a:solidFill>
                  <a:srgbClr val="183D36"/>
                </a:solidFill>
                <a:latin typeface="Calibri"/>
                <a:ea typeface="Calibri"/>
                <a:cs typeface="Calibri"/>
              </a:rPr>
              <a:t>Multiple regression</a:t>
            </a:r>
          </a:p>
          <a:p xmlns:a="http://schemas.openxmlformats.org/drawingml/2006/main">
            <a:pPr>
              <a:buNone/>
              <a:defRPr sz="2025" b="0">
                <a:solidFill>
                  <a:srgbClr val="183D36"/>
                </a:solidFill>
                <a:latin typeface="Calibri"/>
                <a:ea typeface="Calibri"/>
                <a:cs typeface="Calibri"/>
              </a:defRPr>
            </a:pPr>
            <a:r>
              <a:rPr sz="2025" b="0">
                <a:solidFill>
                  <a:srgbClr val="183D36"/>
                </a:solidFill>
                <a:latin typeface="Calibri"/>
                <a:ea typeface="Calibri"/>
                <a:cs typeface="Calibri"/>
              </a:rPr>
              <a:t>Route by study design</a:t>
            </a:r>
          </a:p>
        </p:txBody>
      </p:sp>
      <p:sp>
        <p:nvSpPr>
          <p:cNvPr id="13" name="">
            <a:extLst xmlns:a="http://schemas.openxmlformats.org/drawingml/2006/main">
              <a:ext uri="{FF2B5EF4-FFF2-40B4-BE49-F238E27FC236}">
                <a16:creationId xmlns:a16="http://schemas.microsoft.com/office/drawing/2014/main" id="{4F63C670-5CFF-451F-9A2B-C203EE589953}"/>
              </a:ext>
            </a:extLst>
          </p:cNvPr>
          <p:cNvSpPr>
            <a:spLocks xmlns:a="http://schemas.openxmlformats.org/drawingml/2006/main" noGrp="1"/>
          </p:cNvSpPr>
          <p:nvPr/>
        </p:nvSpPr>
        <p:spPr>
          <a:xfrm xmlns:a="http://schemas.openxmlformats.org/drawingml/2006/main">
            <a:off x="8334375" y="3981450"/>
            <a:ext cx="32480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1">
                <a:solidFill>
                  <a:srgbClr val="183D36"/>
                </a:solidFill>
                <a:latin typeface="Calibri"/>
                <a:ea typeface="Calibri"/>
                <a:cs typeface="Calibri"/>
              </a:defRPr>
            </a:defPPr>
          </a:lstStyle>
          <a:p xmlns:a="http://schemas.openxmlformats.org/drawingml/2006/main">
            <a:pPr>
              <a:buNone/>
              <a:defRPr sz="2175" b="1">
                <a:solidFill>
                  <a:srgbClr val="183D36"/>
                </a:solidFill>
                <a:latin typeface="Calibri"/>
                <a:ea typeface="Calibri"/>
                <a:cs typeface="Calibri"/>
              </a:defRPr>
            </a:pPr>
            <a:r>
              <a:rPr sz="2175" b="1">
                <a:solidFill>
                  <a:srgbClr val="183D36"/>
                </a:solidFill>
                <a:latin typeface="Calibri"/>
                <a:ea typeface="Calibri"/>
                <a:cs typeface="Calibri"/>
              </a:rPr>
              <a:t>Real-world datasets</a:t>
            </a:r>
          </a:p>
        </p:txBody>
      </p:sp>
      <p:sp>
        <p:nvSpPr>
          <p:cNvPr id="14" name="">
            <a:extLst xmlns:a="http://schemas.openxmlformats.org/drawingml/2006/main">
              <a:ext uri="{FF2B5EF4-FFF2-40B4-BE49-F238E27FC236}">
                <a16:creationId xmlns:a16="http://schemas.microsoft.com/office/drawing/2014/main" id="{F199CCF3-9072-493B-A104-BFAED16231F2}"/>
              </a:ext>
            </a:extLst>
          </p:cNvPr>
          <p:cNvSpPr>
            <a:spLocks xmlns:a="http://schemas.openxmlformats.org/drawingml/2006/main" noGrp="1"/>
          </p:cNvSpPr>
          <p:nvPr/>
        </p:nvSpPr>
        <p:spPr>
          <a:xfrm xmlns:a="http://schemas.openxmlformats.org/drawingml/2006/main">
            <a:off x="8334375" y="4524375"/>
            <a:ext cx="3248025"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83D36"/>
                </a:solidFill>
                <a:latin typeface="Calibri"/>
                <a:ea typeface="Calibri"/>
                <a:cs typeface="Calibri"/>
              </a:defRPr>
            </a:defPPr>
          </a:lstStyle>
          <a:p xmlns:a="http://schemas.openxmlformats.org/drawingml/2006/main">
            <a:pPr>
              <a:buNone/>
              <a:defRPr sz="2025" b="0">
                <a:solidFill>
                  <a:srgbClr val="183D36"/>
                </a:solidFill>
                <a:latin typeface="Calibri"/>
                <a:ea typeface="Calibri"/>
                <a:cs typeface="Calibri"/>
              </a:defRPr>
            </a:pPr>
            <a:r>
              <a:rPr sz="2025" b="0">
                <a:solidFill>
                  <a:srgbClr val="183D36"/>
                </a:solidFill>
                <a:latin typeface="Calibri"/>
                <a:ea typeface="Calibri"/>
                <a:cs typeface="Calibri"/>
              </a:rPr>
              <a:t>Public data, e.g. Kaggle</a:t>
            </a:r>
          </a:p>
          <a:p xmlns:a="http://schemas.openxmlformats.org/drawingml/2006/main">
            <a:pPr>
              <a:buNone/>
              <a:defRPr sz="2025" b="0">
                <a:solidFill>
                  <a:srgbClr val="183D36"/>
                </a:solidFill>
                <a:latin typeface="Calibri"/>
                <a:ea typeface="Calibri"/>
                <a:cs typeface="Calibri"/>
              </a:defRPr>
            </a:pPr>
            <a:r>
              <a:rPr sz="2025" b="0">
                <a:solidFill>
                  <a:srgbClr val="183D36"/>
                </a:solidFill>
                <a:latin typeface="Calibri"/>
                <a:ea typeface="Calibri"/>
                <a:cs typeface="Calibri"/>
              </a:rPr>
              <a:t>Verify source and design</a:t>
            </a:r>
          </a:p>
          <a:p xmlns:a="http://schemas.openxmlformats.org/drawingml/2006/main">
            <a:pPr>
              <a:buNone/>
              <a:defRPr sz="2025" b="0">
                <a:solidFill>
                  <a:srgbClr val="183D36"/>
                </a:solidFill>
                <a:latin typeface="Calibri"/>
                <a:ea typeface="Calibri"/>
                <a:cs typeface="Calibri"/>
              </a:defRPr>
            </a:pPr>
            <a:r>
              <a:rPr sz="2025" b="0">
                <a:solidFill>
                  <a:srgbClr val="183D36"/>
                </a:solidFill>
                <a:latin typeface="Calibri"/>
                <a:ea typeface="Calibri"/>
                <a:cs typeface="Calibri"/>
              </a:rPr>
              <a:t>Expert reference analyses</a:t>
            </a:r>
          </a:p>
        </p:txBody>
      </p:sp>
      <p:sp>
        <p:nvSpPr>
          <p:cNvPr id="15" name="">
            <a:extLst xmlns:a="http://schemas.openxmlformats.org/drawingml/2006/main">
              <a:ext uri="{FF2B5EF4-FFF2-40B4-BE49-F238E27FC236}">
                <a16:creationId xmlns:a16="http://schemas.microsoft.com/office/drawing/2014/main" id="{EEEA4BE4-9601-4C06-81B4-DA658F2D212C}"/>
              </a:ext>
            </a:extLst>
          </p:cNvPr>
          <p:cNvSpPr>
            <a:spLocks xmlns:a="http://schemas.openxmlformats.org/drawingml/2006/main" noGrp="1"/>
          </p:cNvSpPr>
          <p:nvPr/>
        </p:nvSpPr>
        <p:spPr>
          <a:xfrm xmlns:a="http://schemas.openxmlformats.org/drawingml/2006/main">
            <a:off x="609600" y="58293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BD5036"/>
                </a:solidFill>
                <a:latin typeface="Calibri"/>
                <a:ea typeface="Calibri"/>
                <a:cs typeface="Calibri"/>
              </a:defRPr>
            </a:defPPr>
          </a:lstStyle>
          <a:p xmlns:a="http://schemas.openxmlformats.org/drawingml/2006/main">
            <a:pPr>
              <a:buNone/>
              <a:defRPr sz="1725" b="1">
                <a:solidFill>
                  <a:srgbClr val="BD5036"/>
                </a:solidFill>
                <a:latin typeface="Calibri"/>
                <a:ea typeface="Calibri"/>
                <a:cs typeface="Calibri"/>
              </a:defRPr>
            </a:pPr>
            <a:r>
              <a:rPr sz="1725" b="1">
                <a:solidFill>
                  <a:srgbClr val="BD5036"/>
                </a:solidFill>
                <a:latin typeface="Calibri"/>
                <a:ea typeface="Calibri"/>
                <a:cs typeface="Calibri"/>
              </a:rPr>
              <a:t>Human ratings and real-world dataset results remain pending</a:t>
            </a:r>
          </a:p>
        </p:txBody>
      </p:sp>
    </p:spTree>
    <p:extLst>
      <p:ext uri="{BB962C8B-B14F-4D97-AF65-F5344CB8AC3E}">
        <p14:creationId xmlns:p14="http://schemas.microsoft.com/office/powerpoint/2010/main" val="3792378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2026-10-13T04:08:15.0700000Z</dcterms:created>
  <dcterms:modified xsi:type="dcterms:W3CDTF">2026-10-13T04:08:15.0700000Z</dcterms:modified>
</coreProperties>
</file>