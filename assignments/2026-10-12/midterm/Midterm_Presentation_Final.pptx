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849bb26f6f4a32" /><Relationship Type="http://schemas.openxmlformats.org/officeDocument/2006/relationships/extended-properties" Target="/docProps/app.xml" Id="R9678311f5cd44fc1" /><Relationship Type="http://schemas.openxmlformats.org/officeDocument/2006/relationships/officeDocument" Target="/ppt/presentation.xml" Id="R42338636ca594c07" /></Relationships>
</file>

<file path=ppt/presentation.xml><?xml version="1.0" encoding="utf-8"?>
<p:presentation xmlns:p="http://schemas.openxmlformats.org/presentationml/2006/main">
  <p:sldMasterIdLst>
    <p:sldMasterId xmlns:r="http://schemas.openxmlformats.org/officeDocument/2006/relationships" id="2147483648" r:id="Rb378b93d5a3a486d"/>
  </p:sldMasterIdLst>
  <p:notesMasterIdLst>
    <p:notesMasterId xmlns:r="http://schemas.openxmlformats.org/officeDocument/2006/relationships" r:id="Rf90cc0c7432c4459"/>
  </p:notesMasterIdLst>
  <p:sldIdLst>
    <p:sldId xmlns:r="http://schemas.openxmlformats.org/officeDocument/2006/relationships" id="256" r:id="Rddf840d6fc234d24"/>
    <p:sldId xmlns:r="http://schemas.openxmlformats.org/officeDocument/2006/relationships" id="257" r:id="R1e5b1e690f144a90"/>
    <p:sldId xmlns:r="http://schemas.openxmlformats.org/officeDocument/2006/relationships" id="258" r:id="R5ed5eb14e2d0495a"/>
    <p:sldId xmlns:r="http://schemas.openxmlformats.org/officeDocument/2006/relationships" id="259" r:id="R0e67b00be2934972"/>
    <p:sldId xmlns:r="http://schemas.openxmlformats.org/officeDocument/2006/relationships" id="260" r:id="R6bdda8b91ef84e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ee290d7ff04d6f" /><Relationship Type="http://schemas.openxmlformats.org/officeDocument/2006/relationships/slideMaster" Target="/ppt/slideMasters/slideMaster1.xml" Id="Rb378b93d5a3a486d" /><Relationship Type="http://schemas.openxmlformats.org/officeDocument/2006/relationships/notesMaster" Target="/ppt/notesMasters/notesMaster1.xml" Id="Rf90cc0c7432c4459" /><Relationship Type="http://schemas.openxmlformats.org/officeDocument/2006/relationships/presProps" Target="/ppt/presProps.xml" Id="Rdbda3d0df57345ad" /><Relationship Type="http://schemas.openxmlformats.org/officeDocument/2006/relationships/tableStyles" Target="/ppt/tableStyles.xml" Id="R6f8b7a7e1df14891" /><Relationship Type="http://schemas.openxmlformats.org/officeDocument/2006/relationships/slide" Target="/ppt/slides/slide1.xml" Id="Rddf840d6fc234d24" /><Relationship Type="http://schemas.openxmlformats.org/officeDocument/2006/relationships/slide" Target="/ppt/slides/slide2.xml" Id="R1e5b1e690f144a90" /><Relationship Type="http://schemas.openxmlformats.org/officeDocument/2006/relationships/slide" Target="/ppt/slides/slide3.xml" Id="R5ed5eb14e2d0495a" /><Relationship Type="http://schemas.openxmlformats.org/officeDocument/2006/relationships/slide" Target="/ppt/slides/slide4.xml" Id="R0e67b00be2934972" /><Relationship Type="http://schemas.openxmlformats.org/officeDocument/2006/relationships/slide" Target="/ppt/slides/slide5.xml" Id="R6bdda8b91ef84e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9eaa784d5d42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6c28a59874715" /><Relationship Type="http://schemas.openxmlformats.org/officeDocument/2006/relationships/notesMaster" Target="/ppt/notesMasters/notesMaster1.xml" Id="R2aa9c63a11ed41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0a39dc09a640c1" /><Relationship Type="http://schemas.openxmlformats.org/officeDocument/2006/relationships/notesMaster" Target="/ppt/notesMasters/notesMaster1.xml" Id="R0745dcb10e56429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44888acf8649d1" /><Relationship Type="http://schemas.openxmlformats.org/officeDocument/2006/relationships/notesMaster" Target="/ppt/notesMasters/notesMaster1.xml" Id="R4c81b62c5c7a40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e2120eca144d01" /><Relationship Type="http://schemas.openxmlformats.org/officeDocument/2006/relationships/notesMaster" Target="/ppt/notesMasters/notesMaster1.xml" Id="Rb9b4eaf05cfa42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ea288f8b474a51" /><Relationship Type="http://schemas.openxmlformats.org/officeDocument/2006/relationships/notesMaster" Target="/ppt/notesMasters/notesMaster1.xml" Id="R14693fa74d1d4f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We built an assistant for a CSV and a natural-language research question. It produces an explicit plan, diagnoses the data, calls statistical tools and gives a reviewed explanation with uncertainty. A p-value can be numerically correct while the explanation uses the wrong target or implies causation. Our prototype makes those decisions visible. It supports four methods and runs through a CLI or notebook. The graph has seventeen workflow nodes but only two LLM agents, backed by different local models. Memory lasts for the running process.</a:t>
            </a:r>
          </a:p>
          <a:p xmlns:a="http://schemas.openxmlformats.org/drawingml/2006/main">
            <a:r>
              <a:t/>
            </a:r>
          </a:p>
          <a:p xmlns:a="http://schemas.openxmlformats.org/drawingml/2006/main">
            <a:r>
              <a:t>Sources: https://github.com/thisisbread1999/statistical-analysis-assistant/blob/9a8fa007c5165b75c2f3fc99a1f3d8fc51683fba/README.md ; https://github.com/thisisbread1999/statistical-analysis-assistant/blob/9a8fa007c5165b75c2f3fc99a1f3d8fc51683fba/stat_assistant/workflow.py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Qwen3 is Model A: it plans, reviews variable meanings and study design, drafts the report and revises when needed. Two diagnostic branches execute in parallel: the LLM checks semantic alignment, while Python checks raw values and method-specific computability. Both must finish before the routing decision. Correctable or verifiable data issues pause the graph; unsupported or unusable input stops. The user supplies a correction, exclusion or verification with a reason; the original data and change history are retained. Python then calculates the statistics. Program checks protect numerical fields, and Gemma3 independently reviews the rendered draft against the original evidence. One report revision is allowed. Persistent failure stops; a request also permits one plan revision, two answered clarification rounds and at most fifteen model calls. Two models can still share errors.</a:t>
            </a:r>
          </a:p>
          <a:p xmlns:a="http://schemas.openxmlformats.org/drawingml/2006/main">
            <a:r>
              <a:t/>
            </a:r>
          </a:p>
          <a:p xmlns:a="http://schemas.openxmlformats.org/drawingml/2006/main">
            <a:r>
              <a:t>Sources: https://github.com/thisisbread1999/statistical-analysis-assistant/blob/9a8fa007c5165b75c2f3fc99a1f3d8fc51683fba/stat_assistant/nodes.py ; https://github.com/thisisbread1999/statistical-analysis-assistant/blob/9a8fa007c5165b75c2f3fc99a1f3d8fc51683fba/stat_assistant/settings.py ; https://github.com/thisisbread1999/statistical-analysis-assistant/blob/9a8fa007c5165b75c2f3fc99a1f3d8fc51683fba/stat_assistant/agents.py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Our own synthetic tutoring data contains eighty simulated students, forty in each group. Teaching metadata states independent records and voluntary, nonrandom tutoring; these are supplied scenario assumptions. Model A maps score to outcome and tutoring to the two-group variable. The target is mean score for yes minus no, with a two-sided null of zero and alpha point zero five. Welch answers this mean comparison and allows unequal variances. Normality diagnostics describe risks and do not automatically switch the target to a rank test. The means are 75.9525 and 69.035 points. SciPy gives a difference of 6.9175 points, a 95-percent interval from 2.9689 to 10.8661, t approximately 3.4927 with 71.4775 degrees of freedom, and p approximately 0.000824. We reject the null under the stated analysis assumptions. Nonrandom assignment means this result does not establish that tutoring caused higher scores.</a:t>
            </a:r>
          </a:p>
          <a:p xmlns:a="http://schemas.openxmlformats.org/drawingml/2006/main">
            <a:r>
              <a:t/>
            </a:r>
          </a:p>
          <a:p xmlns:a="http://schemas.openxmlformats.org/drawingml/2006/main">
            <a:r>
              <a:t>Sources: https://github.com/thisisbread1999/statistical-analysis-assistant/blob/9a8fa007c5165b75c2f3fc99a1f3d8fc51683fba/examples/tutoring_scores_clean_synthetic.csv ; https://github.com/thisisbread1999/statistical-analysis-assistant/blob/9a8fa007c5165b75c2f3fc99a1f3d8fc51683fba/artifacts/verification/initial_full_real.json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Explanation-only follow-ups reuse the validated statistics but draft and review new prose. Asking for a 99-percent interval reuses the data, roles, design and diagnostics and reruns the statistical tool. The interval widens to about 1.68 through 12.16 points. Alpha remains point zero five, and the estimate and p-value do not change. Automatic date filtering is outside this implementation; a subset requires a new CSV and new checks. We passed ninety-three offline tests with mocked model responses and real statistical calculations. Historical Qwen3 and Gemma3 runs eventually delivered all four methods and follow-ups across an initial run and targeted development reruns. This is execution evidence, not a model accuracy benchmark. Independent human interpretation scoring is pending.</a:t>
            </a:r>
          </a:p>
          <a:p xmlns:a="http://schemas.openxmlformats.org/drawingml/2006/main">
            <a:r>
              <a:t/>
            </a:r>
          </a:p>
          <a:p xmlns:a="http://schemas.openxmlformats.org/drawingml/2006/main">
            <a:r>
              <a:t>Sources: https://github.com/thisisbread1999/statistical-analysis-assistant/blob/9a8fa007c5165b75c2f3fc99a1f3d8fc51683fba/docs/VERIFICATION.md ; https://github.com/thisisbread1999/statistical-analysis-assistant/blob/9a8fa007c5165b75c2f3fc99a1f3d8fc51683fba/stat_assistant/runtime.py ; https://github.com/thisisbread1999/statistical-analysis-assistant/blob/9a8fa007c5165b75c2f3fc99a1f3d8fc51683fba/artifacts/verification/layout_alignment.json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A genuine failure occurred in the initial real Pearson and regression runs: their statistical calculations completed, but the report checker rejected a literal zero in the null hypothesis under its placeholder-only policy. Reports stopped after the permitted revision. Repairs added protected null values and decision and direction renderings and distinguished a null slope from an estimated slope. Final targeted runs delivered Pearson after one revision and regression on its first draft. We also observed reviewer false alarms about correctly rounded values. The next step is a held-out set with normal, ambiguous and failing cases, independently scored by both teammates for method choice, effect meaning, uncertainty, missingness and causal restraint. Missed errors and false alarms both matter.</a:t>
            </a:r>
          </a:p>
          <a:p xmlns:a="http://schemas.openxmlformats.org/drawingml/2006/main">
            <a:r>
              <a:t/>
            </a:r>
          </a:p>
          <a:p xmlns:a="http://schemas.openxmlformats.org/drawingml/2006/main">
            <a:r>
              <a:t>Sources: https://github.com/thisisbread1999/statistical-analysis-assistant/blob/9a8fa007c5165b75c2f3fc99a1f3d8fc51683fba/artifacts/verification/initial_full_real.json ; https://github.com/thisisbread1999/statistical-analysis-assistant/blob/9a8fa007c5165b75c2f3fc99a1f3d8fc51683fba/artifacts/verification/first_targeted_real.json ; https://github.com/thisisbread1999/statistical-analysis-assistant/blob/9a8fa007c5165b75c2f3fc99a1f3d8fc51683fba/artifacts/verification/final_targeted_real.json ; https://github.com/thisisbread1999/statistical-analysis-assistant/blob/9a8fa007c5165b75c2f3fc99a1f3d8fc51683fba/docs/VERIFICATION.md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36416e311f46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3912db377e4ea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f8b266240d48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420ebde8cc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5c0ef454974a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48dd78a7584c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3F0774-4E77-4BBC-B4FD-E55CAB7B5C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C87930-DEA5-4508-B4EC-6923616B8D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599AFCB-E266-4654-AEF9-7AB3E6937E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8BE82F-E4A9-44DB-9F05-5CA3EDC438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F949D1-7686-4197-9007-261E51BBEB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0551AC-8854-4874-8805-B084AC8542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E4AFED-FB3B-4AE2-85FB-447A973DE8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DAF537-4C77-409A-9BB1-4B6B402FD8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499BEE-62AD-48B5-86DC-E747CB76D5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F5FC98-E22F-4E3A-9A66-E2C7BC9F3F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ed5037ca4648f9" /><Relationship Type="http://schemas.openxmlformats.org/officeDocument/2006/relationships/slideLayout" Target="/ppt/slideLayouts/slideLayout1.xml" Id="Re58b85a4ccca4318" /><Relationship Type="http://schemas.openxmlformats.org/officeDocument/2006/relationships/slideLayout" Target="/ppt/slideLayouts/slideLayout2.xml" Id="Ra64ad3c170cb42d5" /><Relationship Type="http://schemas.openxmlformats.org/officeDocument/2006/relationships/slideLayout" Target="/ppt/slideLayouts/slideLayout3.xml" Id="Rfb3aebaf3862482f" /><Relationship Type="http://schemas.openxmlformats.org/officeDocument/2006/relationships/slideLayout" Target="/ppt/slideLayouts/slideLayout4.xml" Id="R8fbea09ad9fc4ccb" /><Relationship Type="http://schemas.openxmlformats.org/officeDocument/2006/relationships/slideLayout" Target="/ppt/slideLayouts/slideLayout5.xml" Id="Rf7866eb3b0b543d8" /><Relationship Type="http://schemas.openxmlformats.org/officeDocument/2006/relationships/slideLayout" Target="/ppt/slideLayouts/slideLayout6.xml" Id="R6b71bd5fa98848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8b85a4ccca4318"/>
    <p:sldLayoutId xmlns:r="http://schemas.openxmlformats.org/officeDocument/2006/relationships" id="2147483650" r:id="Ra64ad3c170cb42d5"/>
    <p:sldLayoutId xmlns:r="http://schemas.openxmlformats.org/officeDocument/2006/relationships" id="2147483651" r:id="Rfb3aebaf3862482f"/>
    <p:sldLayoutId xmlns:r="http://schemas.openxmlformats.org/officeDocument/2006/relationships" id="2147483652" r:id="R8fbea09ad9fc4ccb"/>
    <p:sldLayoutId xmlns:r="http://schemas.openxmlformats.org/officeDocument/2006/relationships" id="2147483653" r:id="Rf7866eb3b0b543d8"/>
    <p:sldLayoutId xmlns:r="http://schemas.openxmlformats.org/officeDocument/2006/relationships" id="2147483654" r:id="R6b71bd5fa98848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a3184a4ee3a4005" /><Relationship Type="http://schemas.openxmlformats.org/officeDocument/2006/relationships/notesSlide" Target="/ppt/notesSlides/notesSlide1.xml" Id="Rd2e16601f09547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7b84a85a7b41ae" /><Relationship Type="http://schemas.openxmlformats.org/officeDocument/2006/relationships/notesSlide" Target="/ppt/notesSlides/notesSlide2.xml" Id="Ra1dca045376048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84c42aa9284c3e" /><Relationship Type="http://schemas.openxmlformats.org/officeDocument/2006/relationships/notesSlide" Target="/ppt/notesSlides/notesSlide3.xml" Id="Raebb624341f147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f9c7b59b6a2435c" /><Relationship Type="http://schemas.openxmlformats.org/officeDocument/2006/relationships/notesSlide" Target="/ppt/notesSlides/notesSlide4.xml" Id="R6690e0952edf4c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fea9b91cf34b2a" /><Relationship Type="http://schemas.openxmlformats.org/officeDocument/2006/relationships/notesSlide" Target="/ppt/notesSlides/notesSlide5.xml" Id="Re0c174ac805b4d46"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0D8E37-4809-491F-98AE-5B21EF19809C}"/>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buNone/>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FE9032E9-F813-4ECA-B8F1-59856C73411D}"/>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buNone/>
              <a:defRPr sz="3225" b="1">
                <a:solidFill>
                  <a:srgbClr val="183D36"/>
                </a:solidFill>
                <a:latin typeface="Calibri"/>
                <a:ea typeface="Calibri"/>
                <a:cs typeface="Calibri"/>
              </a:defRPr>
            </a:pPr>
            <a:r>
              <a:rPr sz="3225" b="1">
                <a:solidFill>
                  <a:srgbClr val="183D36"/>
                </a:solidFill>
                <a:latin typeface="Calibri"/>
                <a:ea typeface="Calibri"/>
                <a:cs typeface="Calibri"/>
              </a:rPr>
              <a:t>Agentic Statistical Analysis Assistant</a:t>
            </a:r>
          </a:p>
        </p:txBody>
      </p:sp>
      <p:sp>
        <p:nvSpPr>
          <p:cNvPr id="3" name="">
            <a:extLst xmlns:a="http://schemas.openxmlformats.org/drawingml/2006/main">
              <a:ext uri="{FF2B5EF4-FFF2-40B4-BE49-F238E27FC236}">
                <a16:creationId xmlns:a16="http://schemas.microsoft.com/office/drawing/2014/main" id="{142D52D4-F750-4770-BD62-4EECFF6C5B0D}"/>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8CDE7C4-024A-4066-9BFF-D12D8EE10A3C}"/>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Jingcheng Zhou and Junliang Lyu</a:t>
            </a:r>
          </a:p>
        </p:txBody>
      </p:sp>
      <p:sp>
        <p:nvSpPr>
          <p:cNvPr id="5" name="">
            <a:extLst xmlns:a="http://schemas.openxmlformats.org/drawingml/2006/main">
              <a:ext uri="{FF2B5EF4-FFF2-40B4-BE49-F238E27FC236}">
                <a16:creationId xmlns:a16="http://schemas.microsoft.com/office/drawing/2014/main" id="{A0C358CC-5882-43A6-9E18-C472538C137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1 / 5</a:t>
            </a:r>
          </a:p>
        </p:txBody>
      </p:sp>
      <p:sp>
        <p:nvSpPr>
          <p:cNvPr id="6" name="">
            <a:extLst xmlns:a="http://schemas.openxmlformats.org/drawingml/2006/main">
              <a:ext uri="{FF2B5EF4-FFF2-40B4-BE49-F238E27FC236}">
                <a16:creationId xmlns:a16="http://schemas.microsoft.com/office/drawing/2014/main" id="{FE37CF37-286D-4B31-96F8-3F698815117E}"/>
              </a:ext>
            </a:extLst>
          </p:cNvPr>
          <p:cNvSpPr>
            <a:spLocks xmlns:a="http://schemas.openxmlformats.org/drawingml/2006/main" noGrp="1"/>
          </p:cNvSpPr>
          <p:nvPr/>
        </p:nvSpPr>
        <p:spPr>
          <a:xfrm xmlns:a="http://schemas.openxmlformats.org/drawingml/2006/main">
            <a:off x="609600" y="20574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buNone/>
              <a:defRPr sz="2625" b="1">
                <a:solidFill>
                  <a:srgbClr val="183D36"/>
                </a:solidFill>
                <a:latin typeface="Calibri"/>
                <a:ea typeface="Calibri"/>
                <a:cs typeface="Calibri"/>
              </a:defRPr>
            </a:pPr>
            <a:r>
              <a:rPr sz="2625" b="1">
                <a:solidFill>
                  <a:srgbClr val="183D36"/>
                </a:solidFill>
                <a:latin typeface="Calibri"/>
                <a:ea typeface="Calibri"/>
                <a:cs typeface="Calibri"/>
              </a:rPr>
              <a:t>CSV + question</a:t>
            </a:r>
          </a:p>
        </p:txBody>
      </p:sp>
      <p:sp>
        <p:nvSpPr>
          <p:cNvPr id="7" name="">
            <a:extLst xmlns:a="http://schemas.openxmlformats.org/drawingml/2006/main">
              <a:ext uri="{FF2B5EF4-FFF2-40B4-BE49-F238E27FC236}">
                <a16:creationId xmlns:a16="http://schemas.microsoft.com/office/drawing/2014/main" id="{73BD25B8-21A7-4A39-BC42-55237D512B32}"/>
              </a:ext>
            </a:extLst>
          </p:cNvPr>
          <p:cNvSpPr>
            <a:spLocks xmlns:a="http://schemas.openxmlformats.org/drawingml/2006/main" noGrp="1"/>
          </p:cNvSpPr>
          <p:nvPr/>
        </p:nvSpPr>
        <p:spPr>
          <a:xfrm xmlns:a="http://schemas.openxmlformats.org/drawingml/2006/main">
            <a:off x="609600" y="2657475"/>
            <a:ext cx="335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“Compare mean scores</a:t>
            </a:r>
          </a:p>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for tutoring yes versus no.”</a:t>
            </a:r>
          </a:p>
        </p:txBody>
      </p:sp>
      <p:sp>
        <p:nvSpPr>
          <p:cNvPr id="8" name="">
            <a:extLst xmlns:a="http://schemas.openxmlformats.org/drawingml/2006/main">
              <a:ext uri="{FF2B5EF4-FFF2-40B4-BE49-F238E27FC236}">
                <a16:creationId xmlns:a16="http://schemas.microsoft.com/office/drawing/2014/main" id="{7D5349D3-8955-4397-85F5-3442BCFE743F}"/>
              </a:ext>
            </a:extLst>
          </p:cNvPr>
          <p:cNvSpPr>
            <a:spLocks xmlns:a="http://schemas.openxmlformats.org/drawingml/2006/main" noGrp="1"/>
          </p:cNvSpPr>
          <p:nvPr/>
        </p:nvSpPr>
        <p:spPr>
          <a:xfrm xmlns:a="http://schemas.openxmlformats.org/drawingml/2006/main">
            <a:off x="4038600" y="2724150"/>
            <a:ext cx="59055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8164ED-A4E2-42A9-A67A-8C9448F8B430}"/>
              </a:ext>
            </a:extLst>
          </p:cNvPr>
          <p:cNvSpPr>
            <a:spLocks xmlns:a="http://schemas.openxmlformats.org/drawingml/2006/main" noGrp="1"/>
          </p:cNvSpPr>
          <p:nvPr/>
        </p:nvSpPr>
        <p:spPr>
          <a:xfrm xmlns:a="http://schemas.openxmlformats.org/drawingml/2006/main">
            <a:off x="4943475" y="20574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buNone/>
              <a:defRPr sz="2625" b="1">
                <a:solidFill>
                  <a:srgbClr val="183D36"/>
                </a:solidFill>
                <a:latin typeface="Calibri"/>
                <a:ea typeface="Calibri"/>
                <a:cs typeface="Calibri"/>
              </a:defRPr>
            </a:pPr>
            <a:r>
              <a:rPr sz="2625" b="1">
                <a:solidFill>
                  <a:srgbClr val="183D36"/>
                </a:solidFill>
                <a:latin typeface="Calibri"/>
                <a:ea typeface="Calibri"/>
                <a:cs typeface="Calibri"/>
              </a:rPr>
              <a:t>LangGraph workflow</a:t>
            </a:r>
          </a:p>
        </p:txBody>
      </p:sp>
      <p:sp>
        <p:nvSpPr>
          <p:cNvPr id="10" name="">
            <a:extLst xmlns:a="http://schemas.openxmlformats.org/drawingml/2006/main">
              <a:ext uri="{FF2B5EF4-FFF2-40B4-BE49-F238E27FC236}">
                <a16:creationId xmlns:a16="http://schemas.microsoft.com/office/drawing/2014/main" id="{614AB5C2-EA06-4D2F-B75F-18A33A925CD1}"/>
              </a:ext>
            </a:extLst>
          </p:cNvPr>
          <p:cNvSpPr>
            <a:spLocks xmlns:a="http://schemas.openxmlformats.org/drawingml/2006/main" noGrp="1"/>
          </p:cNvSpPr>
          <p:nvPr/>
        </p:nvSpPr>
        <p:spPr>
          <a:xfrm xmlns:a="http://schemas.openxmlformats.org/drawingml/2006/main">
            <a:off x="4943475" y="2657475"/>
            <a:ext cx="320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83D36"/>
                </a:solidFill>
                <a:latin typeface="Calibri"/>
                <a:ea typeface="Calibri"/>
                <a:cs typeface="Calibri"/>
              </a:defRPr>
            </a:defPPr>
          </a:lstStyle>
          <a:p xmlns:a="http://schemas.openxmlformats.org/drawingml/2006/main">
            <a:pPr>
              <a:buNone/>
              <a:defRPr sz="2175" b="0">
                <a:solidFill>
                  <a:srgbClr val="183D36"/>
                </a:solidFill>
                <a:latin typeface="Calibri"/>
                <a:ea typeface="Calibri"/>
                <a:cs typeface="Calibri"/>
              </a:defRPr>
            </a:pPr>
            <a:r>
              <a:rPr sz="2175" b="0">
                <a:solidFill>
                  <a:srgbClr val="183D36"/>
                </a:solidFill>
                <a:latin typeface="Calibri"/>
                <a:ea typeface="Calibri"/>
                <a:cs typeface="Calibri"/>
              </a:rPr>
              <a:t>Plan → diagnose → compute</a:t>
            </a:r>
          </a:p>
          <a:p xmlns:a="http://schemas.openxmlformats.org/drawingml/2006/main">
            <a:pPr>
              <a:buNone/>
              <a:defRPr sz="2175" b="0">
                <a:solidFill>
                  <a:srgbClr val="183D36"/>
                </a:solidFill>
                <a:latin typeface="Calibri"/>
                <a:ea typeface="Calibri"/>
                <a:cs typeface="Calibri"/>
              </a:defRPr>
            </a:pPr>
            <a:r>
              <a:rPr sz="2175" b="0">
                <a:solidFill>
                  <a:srgbClr val="183D36"/>
                </a:solidFill>
                <a:latin typeface="Calibri"/>
                <a:ea typeface="Calibri"/>
                <a:cs typeface="Calibri"/>
              </a:rPr>
              <a:t>→ draft → review</a:t>
            </a:r>
          </a:p>
        </p:txBody>
      </p:sp>
      <p:sp>
        <p:nvSpPr>
          <p:cNvPr id="11" name="">
            <a:extLst xmlns:a="http://schemas.openxmlformats.org/drawingml/2006/main">
              <a:ext uri="{FF2B5EF4-FFF2-40B4-BE49-F238E27FC236}">
                <a16:creationId xmlns:a16="http://schemas.microsoft.com/office/drawing/2014/main" id="{7565187C-A71F-4261-8119-E6539FCA72BA}"/>
              </a:ext>
            </a:extLst>
          </p:cNvPr>
          <p:cNvSpPr>
            <a:spLocks xmlns:a="http://schemas.openxmlformats.org/drawingml/2006/main" noGrp="1"/>
          </p:cNvSpPr>
          <p:nvPr/>
        </p:nvSpPr>
        <p:spPr>
          <a:xfrm xmlns:a="http://schemas.openxmlformats.org/drawingml/2006/main">
            <a:off x="8391525" y="2724150"/>
            <a:ext cx="59055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E892891-5D0D-458D-AF2C-8B1744A1CA1A}"/>
              </a:ext>
            </a:extLst>
          </p:cNvPr>
          <p:cNvSpPr>
            <a:spLocks xmlns:a="http://schemas.openxmlformats.org/drawingml/2006/main" noGrp="1"/>
          </p:cNvSpPr>
          <p:nvPr/>
        </p:nvSpPr>
        <p:spPr>
          <a:xfrm xmlns:a="http://schemas.openxmlformats.org/drawingml/2006/main">
            <a:off x="9258300" y="2057400"/>
            <a:ext cx="23431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83D36"/>
                </a:solidFill>
                <a:latin typeface="Calibri"/>
                <a:ea typeface="Calibri"/>
                <a:cs typeface="Calibri"/>
              </a:defRPr>
            </a:defPPr>
          </a:lstStyle>
          <a:p xmlns:a="http://schemas.openxmlformats.org/drawingml/2006/main">
            <a:pPr>
              <a:buNone/>
              <a:defRPr sz="2625" b="1">
                <a:solidFill>
                  <a:srgbClr val="183D36"/>
                </a:solidFill>
                <a:latin typeface="Calibri"/>
                <a:ea typeface="Calibri"/>
                <a:cs typeface="Calibri"/>
              </a:defRPr>
            </a:pPr>
            <a:r>
              <a:rPr sz="2625" b="1">
                <a:solidFill>
                  <a:srgbClr val="183D36"/>
                </a:solidFill>
                <a:latin typeface="Calibri"/>
                <a:ea typeface="Calibri"/>
                <a:cs typeface="Calibri"/>
              </a:rPr>
              <a:t>Evidence + limits</a:t>
            </a:r>
          </a:p>
        </p:txBody>
      </p:sp>
      <p:sp>
        <p:nvSpPr>
          <p:cNvPr id="13" name="">
            <a:extLst xmlns:a="http://schemas.openxmlformats.org/drawingml/2006/main">
              <a:ext uri="{FF2B5EF4-FFF2-40B4-BE49-F238E27FC236}">
                <a16:creationId xmlns:a16="http://schemas.microsoft.com/office/drawing/2014/main" id="{2BB7F38C-1173-4BCC-A7AB-01ADF9FA2C11}"/>
              </a:ext>
            </a:extLst>
          </p:cNvPr>
          <p:cNvSpPr>
            <a:spLocks xmlns:a="http://schemas.openxmlformats.org/drawingml/2006/main" noGrp="1"/>
          </p:cNvSpPr>
          <p:nvPr/>
        </p:nvSpPr>
        <p:spPr>
          <a:xfrm xmlns:a="http://schemas.openxmlformats.org/drawingml/2006/main">
            <a:off x="9258300" y="3209925"/>
            <a:ext cx="2362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83D36"/>
                </a:solidFill>
                <a:latin typeface="Calibri"/>
                <a:ea typeface="Calibri"/>
                <a:cs typeface="Calibri"/>
              </a:defRPr>
            </a:defPPr>
          </a:lstStyle>
          <a:p xmlns:a="http://schemas.openxmlformats.org/drawingml/2006/main">
            <a:pPr>
              <a:buNone/>
              <a:defRPr sz="1950" b="0">
                <a:solidFill>
                  <a:srgbClr val="183D36"/>
                </a:solidFill>
                <a:latin typeface="Calibri"/>
                <a:ea typeface="Calibri"/>
                <a:cs typeface="Calibri"/>
              </a:defRPr>
            </a:pPr>
            <a:r>
              <a:rPr sz="1950" b="0">
                <a:solidFill>
                  <a:srgbClr val="183D36"/>
                </a:solidFill>
                <a:latin typeface="Calibri"/>
                <a:ea typeface="Calibri"/>
                <a:cs typeface="Calibri"/>
              </a:rPr>
              <a:t>Estimate + CI</a:t>
            </a:r>
          </a:p>
          <a:p xmlns:a="http://schemas.openxmlformats.org/drawingml/2006/main">
            <a:pPr>
              <a:buNone/>
              <a:defRPr sz="1950" b="0">
                <a:solidFill>
                  <a:srgbClr val="183D36"/>
                </a:solidFill>
                <a:latin typeface="Calibri"/>
                <a:ea typeface="Calibri"/>
                <a:cs typeface="Calibri"/>
              </a:defRPr>
            </a:pPr>
            <a:r>
              <a:rPr sz="1950" b="0">
                <a:solidFill>
                  <a:srgbClr val="183D36"/>
                </a:solidFill>
                <a:latin typeface="Calibri"/>
                <a:ea typeface="Calibri"/>
                <a:cs typeface="Calibri"/>
              </a:rPr>
              <a:t>p-value + review trail</a:t>
            </a:r>
          </a:p>
        </p:txBody>
      </p:sp>
      <p:sp>
        <p:nvSpPr>
          <p:cNvPr id="14" name="">
            <a:extLst xmlns:a="http://schemas.openxmlformats.org/drawingml/2006/main">
              <a:ext uri="{FF2B5EF4-FFF2-40B4-BE49-F238E27FC236}">
                <a16:creationId xmlns:a16="http://schemas.microsoft.com/office/drawing/2014/main" id="{85F5AAF0-EABB-4CE6-B0C6-D1345711BDD3}"/>
              </a:ext>
            </a:extLst>
          </p:cNvPr>
          <p:cNvSpPr>
            <a:spLocks xmlns:a="http://schemas.openxmlformats.org/drawingml/2006/main" noGrp="1"/>
          </p:cNvSpPr>
          <p:nvPr/>
        </p:nvSpPr>
        <p:spPr>
          <a:xfrm xmlns:a="http://schemas.openxmlformats.org/drawingml/2006/main">
            <a:off x="609600" y="4391025"/>
            <a:ext cx="10972800" cy="1323975"/>
          </a:xfrm>
          <a:prstGeom xmlns:a="http://schemas.openxmlformats.org/drawingml/2006/main" prst="rect">
            <a:avLst/>
          </a:prstGeom>
          <a:solidFill xmlns:a="http://schemas.openxmlformats.org/drawingml/2006/main">
            <a:srgbClr val="E9EEE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13D711-E992-49D8-8B21-C0745F97F43E}"/>
              </a:ext>
            </a:extLst>
          </p:cNvPr>
          <p:cNvSpPr>
            <a:spLocks xmlns:a="http://schemas.openxmlformats.org/drawingml/2006/main" noGrp="1"/>
          </p:cNvSpPr>
          <p:nvPr/>
        </p:nvSpPr>
        <p:spPr>
          <a:xfrm xmlns:a="http://schemas.openxmlformats.org/drawingml/2006/main">
            <a:off x="819150" y="4562475"/>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D5036"/>
                </a:solidFill>
                <a:latin typeface="Calibri"/>
                <a:ea typeface="Calibri"/>
                <a:cs typeface="Calibri"/>
              </a:defRPr>
            </a:defPPr>
          </a:lstStyle>
          <a:p xmlns:a="http://schemas.openxmlformats.org/drawingml/2006/main">
            <a:pPr>
              <a:buNone/>
              <a:defRPr sz="1350" b="1">
                <a:solidFill>
                  <a:srgbClr val="BD5036"/>
                </a:solidFill>
                <a:latin typeface="Calibri"/>
                <a:ea typeface="Calibri"/>
                <a:cs typeface="Calibri"/>
              </a:defRPr>
            </a:pPr>
            <a:r>
              <a:rPr sz="1350" b="1">
                <a:solidFill>
                  <a:srgbClr val="BD5036"/>
                </a:solidFill>
                <a:latin typeface="Calibri"/>
                <a:ea typeface="Calibri"/>
                <a:cs typeface="Calibri"/>
              </a:rPr>
              <a:t>IMPLEMENTED</a:t>
            </a:r>
          </a:p>
        </p:txBody>
      </p:sp>
      <p:sp>
        <p:nvSpPr>
          <p:cNvPr id="16" name="">
            <a:extLst xmlns:a="http://schemas.openxmlformats.org/drawingml/2006/main">
              <a:ext uri="{FF2B5EF4-FFF2-40B4-BE49-F238E27FC236}">
                <a16:creationId xmlns:a16="http://schemas.microsoft.com/office/drawing/2014/main" id="{DE676234-F1C3-48AB-9CA7-B7D800281077}"/>
              </a:ext>
            </a:extLst>
          </p:cNvPr>
          <p:cNvSpPr>
            <a:spLocks xmlns:a="http://schemas.openxmlformats.org/drawingml/2006/main" noGrp="1"/>
          </p:cNvSpPr>
          <p:nvPr/>
        </p:nvSpPr>
        <p:spPr>
          <a:xfrm xmlns:a="http://schemas.openxmlformats.org/drawingml/2006/main">
            <a:off x="819150" y="4953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buNone/>
              <a:defRPr sz="2175" b="1">
                <a:solidFill>
                  <a:srgbClr val="183D36"/>
                </a:solidFill>
                <a:latin typeface="Calibri"/>
                <a:ea typeface="Calibri"/>
                <a:cs typeface="Calibri"/>
              </a:defRPr>
            </a:pPr>
            <a:r>
              <a:rPr sz="2175" b="1">
                <a:solidFill>
                  <a:srgbClr val="183D36"/>
                </a:solidFill>
                <a:latin typeface="Calibri"/>
                <a:ea typeface="Calibri"/>
                <a:cs typeface="Calibri"/>
              </a:rPr>
              <a:t>Welch t-test   |   Pearson r   |   Chi-square   |   Simple OLS</a:t>
            </a:r>
          </a:p>
        </p:txBody>
      </p:sp>
      <p:sp>
        <p:nvSpPr>
          <p:cNvPr id="17" name="">
            <a:extLst xmlns:a="http://schemas.openxmlformats.org/drawingml/2006/main">
              <a:ext uri="{FF2B5EF4-FFF2-40B4-BE49-F238E27FC236}">
                <a16:creationId xmlns:a16="http://schemas.microsoft.com/office/drawing/2014/main" id="{13CDDAF8-645A-4C70-9677-FE3ABC181E02}"/>
              </a:ext>
            </a:extLst>
          </p:cNvPr>
          <p:cNvSpPr>
            <a:spLocks xmlns:a="http://schemas.openxmlformats.org/drawingml/2006/main" noGrp="1"/>
          </p:cNvSpPr>
          <p:nvPr/>
        </p:nvSpPr>
        <p:spPr>
          <a:xfrm xmlns:a="http://schemas.openxmlformats.org/drawingml/2006/main">
            <a:off x="819150" y="5391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83D36"/>
                </a:solidFill>
                <a:latin typeface="Calibri"/>
                <a:ea typeface="Calibri"/>
                <a:cs typeface="Calibri"/>
              </a:defRPr>
            </a:defPPr>
          </a:lstStyle>
          <a:p xmlns:a="http://schemas.openxmlformats.org/drawingml/2006/main">
            <a:pPr>
              <a:buNone/>
              <a:defRPr sz="1650" b="0">
                <a:solidFill>
                  <a:srgbClr val="183D36"/>
                </a:solidFill>
                <a:latin typeface="Calibri"/>
                <a:ea typeface="Calibri"/>
                <a:cs typeface="Calibri"/>
              </a:defRPr>
            </a:pPr>
            <a:r>
              <a:rPr sz="1650" b="0">
                <a:solidFill>
                  <a:srgbClr val="183D36"/>
                </a:solidFill>
                <a:latin typeface="Calibri"/>
                <a:ea typeface="Calibri"/>
                <a:cs typeface="Calibri"/>
              </a:rPr>
              <a:t>CLI + notebooks   •   Two distinct models   •   Session memory   •   Bounded retries</a:t>
            </a:r>
          </a:p>
        </p:txBody>
      </p:sp>
    </p:spTree>
    <p:extLst>
      <p:ext uri="{BB962C8B-B14F-4D97-AF65-F5344CB8AC3E}">
        <p14:creationId xmlns:p14="http://schemas.microsoft.com/office/powerpoint/2010/main" val="147824673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A557D45-1DFB-4599-8A45-D4B3B2AABD79}"/>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buNone/>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D551D9F6-BBF1-43B6-934C-B4C4C8162D95}"/>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buNone/>
              <a:defRPr sz="3225" b="1">
                <a:solidFill>
                  <a:srgbClr val="183D36"/>
                </a:solidFill>
                <a:latin typeface="Calibri"/>
                <a:ea typeface="Calibri"/>
                <a:cs typeface="Calibri"/>
              </a:defRPr>
            </a:pPr>
            <a:r>
              <a:rPr sz="3225" b="1">
                <a:solidFill>
                  <a:srgbClr val="183D36"/>
                </a:solidFill>
                <a:latin typeface="Calibri"/>
                <a:ea typeface="Calibri"/>
                <a:cs typeface="Calibri"/>
              </a:rPr>
              <a:t>Two models and parallel diagnostics</a:t>
            </a:r>
          </a:p>
        </p:txBody>
      </p:sp>
      <p:sp>
        <p:nvSpPr>
          <p:cNvPr id="3" name="">
            <a:extLst xmlns:a="http://schemas.openxmlformats.org/drawingml/2006/main">
              <a:ext uri="{FF2B5EF4-FFF2-40B4-BE49-F238E27FC236}">
                <a16:creationId xmlns:a16="http://schemas.microsoft.com/office/drawing/2014/main" id="{F62F61F6-50AE-4C2C-9563-CC11A30C6C6A}"/>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3A1BCC-6C34-4E11-AD89-459F01377568}"/>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Jingcheng Zhou and Junliang Lyu</a:t>
            </a:r>
          </a:p>
        </p:txBody>
      </p:sp>
      <p:sp>
        <p:nvSpPr>
          <p:cNvPr id="5" name="">
            <a:extLst xmlns:a="http://schemas.openxmlformats.org/drawingml/2006/main">
              <a:ext uri="{FF2B5EF4-FFF2-40B4-BE49-F238E27FC236}">
                <a16:creationId xmlns:a16="http://schemas.microsoft.com/office/drawing/2014/main" id="{4EA23B40-4CA9-4589-8B98-71D16AFEFD8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2 / 5</a:t>
            </a:r>
          </a:p>
        </p:txBody>
      </p:sp>
      <p:sp>
        <p:nvSpPr>
          <p:cNvPr id="6" name="">
            <a:extLst xmlns:a="http://schemas.openxmlformats.org/drawingml/2006/main">
              <a:ext uri="{FF2B5EF4-FFF2-40B4-BE49-F238E27FC236}">
                <a16:creationId xmlns:a16="http://schemas.microsoft.com/office/drawing/2014/main" id="{1A027465-F07D-47D9-928A-C3E589970361}"/>
              </a:ext>
            </a:extLst>
          </p:cNvPr>
          <p:cNvSpPr>
            <a:spLocks xmlns:a="http://schemas.openxmlformats.org/drawingml/2006/main" noGrp="1"/>
          </p:cNvSpPr>
          <p:nvPr/>
        </p:nvSpPr>
        <p:spPr>
          <a:xfrm xmlns:a="http://schemas.openxmlformats.org/drawingml/2006/main">
            <a:off x="609600" y="1876425"/>
            <a:ext cx="3267075" cy="1257300"/>
          </a:xfrm>
          <a:prstGeom xmlns:a="http://schemas.openxmlformats.org/drawingml/2006/main" prst="rect">
            <a:avLst/>
          </a:prstGeom>
          <a:solidFill xmlns:a="http://schemas.openxmlformats.org/drawingml/2006/main">
            <a:srgbClr val="E9E7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1C8071-BD3C-407D-9FDE-057E75B08D0E}"/>
              </a:ext>
            </a:extLst>
          </p:cNvPr>
          <p:cNvSpPr>
            <a:spLocks xmlns:a="http://schemas.openxmlformats.org/drawingml/2006/main" noGrp="1"/>
          </p:cNvSpPr>
          <p:nvPr/>
        </p:nvSpPr>
        <p:spPr>
          <a:xfrm xmlns:a="http://schemas.openxmlformats.org/drawingml/2006/main">
            <a:off x="800100" y="2009775"/>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buNone/>
              <a:defRPr sz="2250" b="1">
                <a:solidFill>
                  <a:srgbClr val="183D36"/>
                </a:solidFill>
                <a:latin typeface="Calibri"/>
                <a:ea typeface="Calibri"/>
                <a:cs typeface="Calibri"/>
              </a:defRPr>
            </a:pPr>
            <a:r>
              <a:rPr sz="2250" b="1">
                <a:solidFill>
                  <a:srgbClr val="183D36"/>
                </a:solidFill>
                <a:latin typeface="Calibri"/>
                <a:ea typeface="Calibri"/>
                <a:cs typeface="Calibri"/>
              </a:rPr>
              <a:t>A / Qwen3:8b</a:t>
            </a:r>
          </a:p>
        </p:txBody>
      </p:sp>
      <p:sp>
        <p:nvSpPr>
          <p:cNvPr id="8" name="">
            <a:extLst xmlns:a="http://schemas.openxmlformats.org/drawingml/2006/main">
              <a:ext uri="{FF2B5EF4-FFF2-40B4-BE49-F238E27FC236}">
                <a16:creationId xmlns:a16="http://schemas.microsoft.com/office/drawing/2014/main" id="{0ADBF015-3773-4EB9-A5BE-1750FCB41314}"/>
              </a:ext>
            </a:extLst>
          </p:cNvPr>
          <p:cNvSpPr>
            <a:spLocks xmlns:a="http://schemas.openxmlformats.org/drawingml/2006/main" noGrp="1"/>
          </p:cNvSpPr>
          <p:nvPr/>
        </p:nvSpPr>
        <p:spPr>
          <a:xfrm xmlns:a="http://schemas.openxmlformats.org/drawingml/2006/main">
            <a:off x="800100" y="2476500"/>
            <a:ext cx="2876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Plan, diagnose and draft</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Revise from feedback</a:t>
            </a:r>
          </a:p>
        </p:txBody>
      </p:sp>
      <p:sp>
        <p:nvSpPr>
          <p:cNvPr id="9" name="">
            <a:extLst xmlns:a="http://schemas.openxmlformats.org/drawingml/2006/main">
              <a:ext uri="{FF2B5EF4-FFF2-40B4-BE49-F238E27FC236}">
                <a16:creationId xmlns:a16="http://schemas.microsoft.com/office/drawing/2014/main" id="{1F907B2A-1B90-41C1-9841-0AEC4050D8B8}"/>
              </a:ext>
            </a:extLst>
          </p:cNvPr>
          <p:cNvSpPr>
            <a:spLocks xmlns:a="http://schemas.openxmlformats.org/drawingml/2006/main" noGrp="1"/>
          </p:cNvSpPr>
          <p:nvPr/>
        </p:nvSpPr>
        <p:spPr>
          <a:xfrm xmlns:a="http://schemas.openxmlformats.org/drawingml/2006/main">
            <a:off x="4038600" y="2352675"/>
            <a:ext cx="45720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BA19ED9-2614-49BF-8F7F-596C7893FE73}"/>
              </a:ext>
            </a:extLst>
          </p:cNvPr>
          <p:cNvSpPr>
            <a:spLocks xmlns:a="http://schemas.openxmlformats.org/drawingml/2006/main" noGrp="1"/>
          </p:cNvSpPr>
          <p:nvPr/>
        </p:nvSpPr>
        <p:spPr>
          <a:xfrm xmlns:a="http://schemas.openxmlformats.org/drawingml/2006/main">
            <a:off x="4648200" y="1876425"/>
            <a:ext cx="2886075" cy="1257300"/>
          </a:xfrm>
          <a:prstGeom xmlns:a="http://schemas.openxmlformats.org/drawingml/2006/main" prst="rect">
            <a:avLst/>
          </a:prstGeom>
          <a:solidFill xmlns:a="http://schemas.openxmlformats.org/drawingml/2006/main">
            <a:srgbClr val="E9EE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FC03B4-D0FC-4C3F-A664-9194500637B9}"/>
              </a:ext>
            </a:extLst>
          </p:cNvPr>
          <p:cNvSpPr>
            <a:spLocks xmlns:a="http://schemas.openxmlformats.org/drawingml/2006/main" noGrp="1"/>
          </p:cNvSpPr>
          <p:nvPr/>
        </p:nvSpPr>
        <p:spPr>
          <a:xfrm xmlns:a="http://schemas.openxmlformats.org/drawingml/2006/main">
            <a:off x="4829175" y="2009775"/>
            <a:ext cx="2524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buNone/>
              <a:defRPr sz="2250" b="1">
                <a:solidFill>
                  <a:srgbClr val="183D36"/>
                </a:solidFill>
                <a:latin typeface="Calibri"/>
                <a:ea typeface="Calibri"/>
                <a:cs typeface="Calibri"/>
              </a:defRPr>
            </a:pPr>
            <a:r>
              <a:rPr sz="2250" b="1">
                <a:solidFill>
                  <a:srgbClr val="183D36"/>
                </a:solidFill>
                <a:latin typeface="Calibri"/>
                <a:ea typeface="Calibri"/>
                <a:cs typeface="Calibri"/>
              </a:rPr>
              <a:t>Python / SciPy</a:t>
            </a:r>
          </a:p>
        </p:txBody>
      </p:sp>
      <p:sp>
        <p:nvSpPr>
          <p:cNvPr id="12" name="">
            <a:extLst xmlns:a="http://schemas.openxmlformats.org/drawingml/2006/main">
              <a:ext uri="{FF2B5EF4-FFF2-40B4-BE49-F238E27FC236}">
                <a16:creationId xmlns:a16="http://schemas.microsoft.com/office/drawing/2014/main" id="{7BB7A358-0C54-4AB5-A9C0-08A198AD4304}"/>
              </a:ext>
            </a:extLst>
          </p:cNvPr>
          <p:cNvSpPr>
            <a:spLocks xmlns:a="http://schemas.openxmlformats.org/drawingml/2006/main" noGrp="1"/>
          </p:cNvSpPr>
          <p:nvPr/>
        </p:nvSpPr>
        <p:spPr>
          <a:xfrm xmlns:a="http://schemas.openxmlformats.org/drawingml/2006/main">
            <a:off x="4829175" y="2476500"/>
            <a:ext cx="25431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Checks + calculations</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Protected numbers</a:t>
            </a:r>
          </a:p>
        </p:txBody>
      </p:sp>
      <p:sp>
        <p:nvSpPr>
          <p:cNvPr id="13" name="">
            <a:extLst xmlns:a="http://schemas.openxmlformats.org/drawingml/2006/main">
              <a:ext uri="{FF2B5EF4-FFF2-40B4-BE49-F238E27FC236}">
                <a16:creationId xmlns:a16="http://schemas.microsoft.com/office/drawing/2014/main" id="{C0E1AA79-7951-4F65-92F1-D5BE2BDFBB57}"/>
              </a:ext>
            </a:extLst>
          </p:cNvPr>
          <p:cNvSpPr>
            <a:spLocks xmlns:a="http://schemas.openxmlformats.org/drawingml/2006/main" noGrp="1"/>
          </p:cNvSpPr>
          <p:nvPr/>
        </p:nvSpPr>
        <p:spPr>
          <a:xfrm xmlns:a="http://schemas.openxmlformats.org/drawingml/2006/main">
            <a:off x="7715250" y="2352675"/>
            <a:ext cx="457200" cy="209550"/>
          </a:xfrm>
          <a:prstGeom xmlns:a="http://schemas.openxmlformats.org/drawingml/2006/main" prst="rightArrow">
            <a:avLst/>
          </a:prstGeom>
          <a:solidFill xmlns:a="http://schemas.openxmlformats.org/drawingml/2006/main">
            <a:srgbClr val="65766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8F48ED-029E-4BFD-B076-1337E46DD02A}"/>
              </a:ext>
            </a:extLst>
          </p:cNvPr>
          <p:cNvSpPr>
            <a:spLocks xmlns:a="http://schemas.openxmlformats.org/drawingml/2006/main" noGrp="1"/>
          </p:cNvSpPr>
          <p:nvPr/>
        </p:nvSpPr>
        <p:spPr>
          <a:xfrm xmlns:a="http://schemas.openxmlformats.org/drawingml/2006/main">
            <a:off x="8334375" y="1876425"/>
            <a:ext cx="3248025" cy="1257300"/>
          </a:xfrm>
          <a:prstGeom xmlns:a="http://schemas.openxmlformats.org/drawingml/2006/main" prst="rect">
            <a:avLst/>
          </a:prstGeom>
          <a:solidFill xmlns:a="http://schemas.openxmlformats.org/drawingml/2006/main">
            <a:srgbClr val="E9E7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C4A24AE-5579-4E3C-9EBF-FFEC9EC48069}"/>
              </a:ext>
            </a:extLst>
          </p:cNvPr>
          <p:cNvSpPr>
            <a:spLocks xmlns:a="http://schemas.openxmlformats.org/drawingml/2006/main" noGrp="1"/>
          </p:cNvSpPr>
          <p:nvPr/>
        </p:nvSpPr>
        <p:spPr>
          <a:xfrm xmlns:a="http://schemas.openxmlformats.org/drawingml/2006/main">
            <a:off x="8524875" y="2009775"/>
            <a:ext cx="2876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buNone/>
              <a:defRPr sz="2250" b="1">
                <a:solidFill>
                  <a:srgbClr val="183D36"/>
                </a:solidFill>
                <a:latin typeface="Calibri"/>
                <a:ea typeface="Calibri"/>
                <a:cs typeface="Calibri"/>
              </a:defRPr>
            </a:pPr>
            <a:r>
              <a:rPr sz="2250" b="1">
                <a:solidFill>
                  <a:srgbClr val="183D36"/>
                </a:solidFill>
                <a:latin typeface="Calibri"/>
                <a:ea typeface="Calibri"/>
                <a:cs typeface="Calibri"/>
              </a:rPr>
              <a:t>B / Gemma3:12b</a:t>
            </a:r>
          </a:p>
        </p:txBody>
      </p:sp>
      <p:sp>
        <p:nvSpPr>
          <p:cNvPr id="16" name="">
            <a:extLst xmlns:a="http://schemas.openxmlformats.org/drawingml/2006/main">
              <a:ext uri="{FF2B5EF4-FFF2-40B4-BE49-F238E27FC236}">
                <a16:creationId xmlns:a16="http://schemas.microsoft.com/office/drawing/2014/main" id="{501B0EF9-37B9-4E46-B7F5-BF11B538C110}"/>
              </a:ext>
            </a:extLst>
          </p:cNvPr>
          <p:cNvSpPr>
            <a:spLocks xmlns:a="http://schemas.openxmlformats.org/drawingml/2006/main" noGrp="1"/>
          </p:cNvSpPr>
          <p:nvPr/>
        </p:nvSpPr>
        <p:spPr>
          <a:xfrm xmlns:a="http://schemas.openxmlformats.org/drawingml/2006/main">
            <a:off x="8524875" y="2476500"/>
            <a:ext cx="28670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Original evidence + draft</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Review statistical meaning</a:t>
            </a:r>
          </a:p>
        </p:txBody>
      </p:sp>
      <p:sp>
        <p:nvSpPr>
          <p:cNvPr id="17" name="">
            <a:extLst xmlns:a="http://schemas.openxmlformats.org/drawingml/2006/main">
              <a:ext uri="{FF2B5EF4-FFF2-40B4-BE49-F238E27FC236}">
                <a16:creationId xmlns:a16="http://schemas.microsoft.com/office/drawing/2014/main" id="{AA38B787-9497-4D3F-81F3-47A3873A88B6}"/>
              </a:ext>
            </a:extLst>
          </p:cNvPr>
          <p:cNvSpPr>
            <a:spLocks xmlns:a="http://schemas.openxmlformats.org/drawingml/2006/main" noGrp="1"/>
          </p:cNvSpPr>
          <p:nvPr/>
        </p:nvSpPr>
        <p:spPr>
          <a:xfrm xmlns:a="http://schemas.openxmlformats.org/drawingml/2006/main">
            <a:off x="609600" y="3581400"/>
            <a:ext cx="32670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buNone/>
              <a:defRPr sz="2025" b="1">
                <a:solidFill>
                  <a:srgbClr val="183D36"/>
                </a:solidFill>
                <a:latin typeface="Calibri"/>
                <a:ea typeface="Calibri"/>
                <a:cs typeface="Calibri"/>
              </a:defRPr>
            </a:pPr>
            <a:r>
              <a:rPr sz="2025" b="1">
                <a:solidFill>
                  <a:srgbClr val="183D36"/>
                </a:solidFill>
                <a:latin typeface="Calibri"/>
                <a:ea typeface="Calibri"/>
                <a:cs typeface="Calibri"/>
              </a:rPr>
              <a:t>Parallel diagnosis</a:t>
            </a:r>
          </a:p>
        </p:txBody>
      </p:sp>
      <p:sp>
        <p:nvSpPr>
          <p:cNvPr id="18" name="">
            <a:extLst xmlns:a="http://schemas.openxmlformats.org/drawingml/2006/main">
              <a:ext uri="{FF2B5EF4-FFF2-40B4-BE49-F238E27FC236}">
                <a16:creationId xmlns:a16="http://schemas.microsoft.com/office/drawing/2014/main" id="{850D3F2B-E4BB-40F5-BE0B-A3C0DDE24E25}"/>
              </a:ext>
            </a:extLst>
          </p:cNvPr>
          <p:cNvSpPr>
            <a:spLocks xmlns:a="http://schemas.openxmlformats.org/drawingml/2006/main" noGrp="1"/>
          </p:cNvSpPr>
          <p:nvPr/>
        </p:nvSpPr>
        <p:spPr>
          <a:xfrm xmlns:a="http://schemas.openxmlformats.org/drawingml/2006/main">
            <a:off x="609600" y="4038600"/>
            <a:ext cx="33432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LLM semantics + Python</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Data checks run together</a:t>
            </a:r>
          </a:p>
        </p:txBody>
      </p:sp>
      <p:sp>
        <p:nvSpPr>
          <p:cNvPr id="19" name="">
            <a:extLst xmlns:a="http://schemas.openxmlformats.org/drawingml/2006/main">
              <a:ext uri="{FF2B5EF4-FFF2-40B4-BE49-F238E27FC236}">
                <a16:creationId xmlns:a16="http://schemas.microsoft.com/office/drawing/2014/main" id="{B424278F-456A-43BD-A327-045D04923505}"/>
              </a:ext>
            </a:extLst>
          </p:cNvPr>
          <p:cNvSpPr>
            <a:spLocks xmlns:a="http://schemas.openxmlformats.org/drawingml/2006/main" noGrp="1"/>
          </p:cNvSpPr>
          <p:nvPr/>
        </p:nvSpPr>
        <p:spPr>
          <a:xfrm xmlns:a="http://schemas.openxmlformats.org/drawingml/2006/main">
            <a:off x="4648200" y="358140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buNone/>
              <a:defRPr sz="2025" b="1">
                <a:solidFill>
                  <a:srgbClr val="183D36"/>
                </a:solidFill>
                <a:latin typeface="Calibri"/>
                <a:ea typeface="Calibri"/>
                <a:cs typeface="Calibri"/>
              </a:defRPr>
            </a:pPr>
            <a:r>
              <a:rPr sz="2025" b="1">
                <a:solidFill>
                  <a:srgbClr val="183D36"/>
                </a:solidFill>
                <a:latin typeface="Calibri"/>
                <a:ea typeface="Calibri"/>
                <a:cs typeface="Calibri"/>
              </a:rPr>
              <a:t>Data issue?</a:t>
            </a:r>
          </a:p>
        </p:txBody>
      </p:sp>
      <p:sp>
        <p:nvSpPr>
          <p:cNvPr id="20" name="">
            <a:extLst xmlns:a="http://schemas.openxmlformats.org/drawingml/2006/main">
              <a:ext uri="{FF2B5EF4-FFF2-40B4-BE49-F238E27FC236}">
                <a16:creationId xmlns:a16="http://schemas.microsoft.com/office/drawing/2014/main" id="{0AB10A83-4053-4BC6-B254-C9AC630C403C}"/>
              </a:ext>
            </a:extLst>
          </p:cNvPr>
          <p:cNvSpPr>
            <a:spLocks xmlns:a="http://schemas.openxmlformats.org/drawingml/2006/main" noGrp="1"/>
          </p:cNvSpPr>
          <p:nvPr/>
        </p:nvSpPr>
        <p:spPr>
          <a:xfrm xmlns:a="http://schemas.openxmlformats.org/drawingml/2006/main">
            <a:off x="4648200" y="4038600"/>
            <a:ext cx="328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Pause for confirmed changes</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Record reasons and versions</a:t>
            </a:r>
          </a:p>
        </p:txBody>
      </p:sp>
      <p:sp>
        <p:nvSpPr>
          <p:cNvPr id="21" name="">
            <a:extLst xmlns:a="http://schemas.openxmlformats.org/drawingml/2006/main">
              <a:ext uri="{FF2B5EF4-FFF2-40B4-BE49-F238E27FC236}">
                <a16:creationId xmlns:a16="http://schemas.microsoft.com/office/drawing/2014/main" id="{071FC960-CE7D-4A21-84BE-41CE9D454601}"/>
              </a:ext>
            </a:extLst>
          </p:cNvPr>
          <p:cNvSpPr>
            <a:spLocks xmlns:a="http://schemas.openxmlformats.org/drawingml/2006/main" noGrp="1"/>
          </p:cNvSpPr>
          <p:nvPr/>
        </p:nvSpPr>
        <p:spPr>
          <a:xfrm xmlns:a="http://schemas.openxmlformats.org/drawingml/2006/main">
            <a:off x="8334375" y="3581400"/>
            <a:ext cx="32480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83D36"/>
                </a:solidFill>
                <a:latin typeface="Calibri"/>
                <a:ea typeface="Calibri"/>
                <a:cs typeface="Calibri"/>
              </a:defRPr>
            </a:defPPr>
          </a:lstStyle>
          <a:p xmlns:a="http://schemas.openxmlformats.org/drawingml/2006/main">
            <a:pPr>
              <a:buNone/>
              <a:defRPr sz="2025" b="1">
                <a:solidFill>
                  <a:srgbClr val="183D36"/>
                </a:solidFill>
                <a:latin typeface="Calibri"/>
                <a:ea typeface="Calibri"/>
                <a:cs typeface="Calibri"/>
              </a:defRPr>
            </a:pPr>
            <a:r>
              <a:rPr sz="2025" b="1">
                <a:solidFill>
                  <a:srgbClr val="183D36"/>
                </a:solidFill>
                <a:latin typeface="Calibri"/>
                <a:ea typeface="Calibri"/>
                <a:cs typeface="Calibri"/>
              </a:rPr>
              <a:t>Review fails?</a:t>
            </a:r>
          </a:p>
        </p:txBody>
      </p:sp>
      <p:sp>
        <p:nvSpPr>
          <p:cNvPr id="22" name="">
            <a:extLst xmlns:a="http://schemas.openxmlformats.org/drawingml/2006/main">
              <a:ext uri="{FF2B5EF4-FFF2-40B4-BE49-F238E27FC236}">
                <a16:creationId xmlns:a16="http://schemas.microsoft.com/office/drawing/2014/main" id="{91305479-CD04-43C0-834B-9C1195A3480D}"/>
              </a:ext>
            </a:extLst>
          </p:cNvPr>
          <p:cNvSpPr>
            <a:spLocks xmlns:a="http://schemas.openxmlformats.org/drawingml/2006/main" noGrp="1"/>
          </p:cNvSpPr>
          <p:nvPr/>
        </p:nvSpPr>
        <p:spPr>
          <a:xfrm xmlns:a="http://schemas.openxmlformats.org/drawingml/2006/main">
            <a:off x="8334375" y="4038600"/>
            <a:ext cx="32480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Revise once; then stop</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if checks still fail</a:t>
            </a:r>
          </a:p>
        </p:txBody>
      </p:sp>
      <p:sp>
        <p:nvSpPr>
          <p:cNvPr id="23" name="">
            <a:extLst xmlns:a="http://schemas.openxmlformats.org/drawingml/2006/main">
              <a:ext uri="{FF2B5EF4-FFF2-40B4-BE49-F238E27FC236}">
                <a16:creationId xmlns:a16="http://schemas.microsoft.com/office/drawing/2014/main" id="{97120DA5-A099-448E-A50D-1B3EACF9365B}"/>
              </a:ext>
            </a:extLst>
          </p:cNvPr>
          <p:cNvSpPr>
            <a:spLocks xmlns:a="http://schemas.openxmlformats.org/drawingml/2006/main" noGrp="1"/>
          </p:cNvSpPr>
          <p:nvPr/>
        </p:nvSpPr>
        <p:spPr>
          <a:xfrm xmlns:a="http://schemas.openxmlformats.org/drawingml/2006/main">
            <a:off x="609600" y="5133975"/>
            <a:ext cx="10972800" cy="6477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4CE7CB2-552B-45F8-9B9D-56FC4878DC03}"/>
              </a:ext>
            </a:extLst>
          </p:cNvPr>
          <p:cNvSpPr>
            <a:spLocks xmlns:a="http://schemas.openxmlformats.org/drawingml/2006/main" noGrp="1"/>
          </p:cNvSpPr>
          <p:nvPr/>
        </p:nvSpPr>
        <p:spPr>
          <a:xfrm xmlns:a="http://schemas.openxmlformats.org/drawingml/2006/main">
            <a:off x="800100" y="52863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Calibri"/>
                <a:ea typeface="Calibri"/>
                <a:cs typeface="Calibri"/>
              </a:defRPr>
            </a:defPPr>
          </a:lstStyle>
          <a:p xmlns:a="http://schemas.openxmlformats.org/drawingml/2006/main">
            <a:pPr>
              <a:buNone/>
              <a:defRPr sz="1950" b="0">
                <a:solidFill>
                  <a:srgbClr val="FFFFFF"/>
                </a:solidFill>
                <a:latin typeface="Calibri"/>
                <a:ea typeface="Calibri"/>
                <a:cs typeface="Calibri"/>
              </a:defRPr>
            </a:pPr>
            <a:r>
              <a:rPr sz="1950" b="0">
                <a:solidFill>
                  <a:srgbClr val="FFFFFF"/>
                </a:solidFill>
                <a:latin typeface="Calibri"/>
                <a:ea typeface="Calibri"/>
                <a:cs typeface="Calibri"/>
              </a:rPr>
              <a:t>Reproducible arithmetic, evidence review and visible user decisions</a:t>
            </a:r>
          </a:p>
        </p:txBody>
      </p:sp>
    </p:spTree>
    <p:extLst>
      <p:ext uri="{BB962C8B-B14F-4D97-AF65-F5344CB8AC3E}">
        <p14:creationId xmlns:p14="http://schemas.microsoft.com/office/powerpoint/2010/main" val="1897359595"/>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D86D122-9F2C-4A55-AECC-CBABF7C7A951}"/>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buNone/>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217D1154-27F2-4A5A-9067-29A9B3081BF2}"/>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buNone/>
              <a:defRPr sz="3225" b="1">
                <a:solidFill>
                  <a:srgbClr val="183D36"/>
                </a:solidFill>
                <a:latin typeface="Calibri"/>
                <a:ea typeface="Calibri"/>
                <a:cs typeface="Calibri"/>
              </a:defRPr>
            </a:pPr>
            <a:r>
              <a:rPr sz="3225" b="1">
                <a:solidFill>
                  <a:srgbClr val="183D36"/>
                </a:solidFill>
                <a:latin typeface="Calibri"/>
                <a:ea typeface="Calibri"/>
                <a:cs typeface="Calibri"/>
              </a:rPr>
              <a:t>Walkthrough: tutoring versus no tutoring</a:t>
            </a:r>
          </a:p>
        </p:txBody>
      </p:sp>
      <p:sp>
        <p:nvSpPr>
          <p:cNvPr id="3" name="">
            <a:extLst xmlns:a="http://schemas.openxmlformats.org/drawingml/2006/main">
              <a:ext uri="{FF2B5EF4-FFF2-40B4-BE49-F238E27FC236}">
                <a16:creationId xmlns:a16="http://schemas.microsoft.com/office/drawing/2014/main" id="{F8445F8A-4326-447A-923E-B3D69510F05C}"/>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0A4DE1-F08F-4DC6-AEF2-0B2E43667919}"/>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Jingcheng Zhou and Junliang Lyu</a:t>
            </a:r>
          </a:p>
        </p:txBody>
      </p:sp>
      <p:sp>
        <p:nvSpPr>
          <p:cNvPr id="5" name="">
            <a:extLst xmlns:a="http://schemas.openxmlformats.org/drawingml/2006/main">
              <a:ext uri="{FF2B5EF4-FFF2-40B4-BE49-F238E27FC236}">
                <a16:creationId xmlns:a16="http://schemas.microsoft.com/office/drawing/2014/main" id="{C857608A-FB29-4516-AE7F-7C8930F4B1B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3 / 5</a:t>
            </a:r>
          </a:p>
        </p:txBody>
      </p:sp>
      <p:sp>
        <p:nvSpPr>
          <p:cNvPr id="6" name="">
            <a:extLst xmlns:a="http://schemas.openxmlformats.org/drawingml/2006/main">
              <a:ext uri="{FF2B5EF4-FFF2-40B4-BE49-F238E27FC236}">
                <a16:creationId xmlns:a16="http://schemas.microsoft.com/office/drawing/2014/main" id="{29994712-BACB-40AA-B20A-D9A40450CF63}"/>
              </a:ext>
            </a:extLst>
          </p:cNvPr>
          <p:cNvSpPr>
            <a:spLocks xmlns:a="http://schemas.openxmlformats.org/drawingml/2006/main" noGrp="1"/>
          </p:cNvSpPr>
          <p:nvPr/>
        </p:nvSpPr>
        <p:spPr>
          <a:xfrm xmlns:a="http://schemas.openxmlformats.org/drawingml/2006/main">
            <a:off x="609600" y="17621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BD5036"/>
                </a:solidFill>
                <a:latin typeface="Calibri"/>
                <a:ea typeface="Calibri"/>
                <a:cs typeface="Calibri"/>
              </a:defRPr>
            </a:defPPr>
          </a:lstStyle>
          <a:p xmlns:a="http://schemas.openxmlformats.org/drawingml/2006/main">
            <a:pPr>
              <a:buNone/>
              <a:defRPr sz="1950" b="1">
                <a:solidFill>
                  <a:srgbClr val="BD5036"/>
                </a:solidFill>
                <a:latin typeface="Calibri"/>
                <a:ea typeface="Calibri"/>
                <a:cs typeface="Calibri"/>
              </a:defRPr>
            </a:pPr>
            <a:r>
              <a:rPr sz="1950" b="1">
                <a:solidFill>
                  <a:srgbClr val="BD5036"/>
                </a:solidFill>
                <a:latin typeface="Calibri"/>
                <a:ea typeface="Calibri"/>
                <a:cs typeface="Calibri"/>
              </a:rPr>
              <a:t>INPUT / 80 synthetic students, 40 per group</a:t>
            </a:r>
          </a:p>
        </p:txBody>
      </p:sp>
      <p:sp>
        <p:nvSpPr>
          <p:cNvPr id="7" name="">
            <a:extLst xmlns:a="http://schemas.openxmlformats.org/drawingml/2006/main">
              <a:ext uri="{FF2B5EF4-FFF2-40B4-BE49-F238E27FC236}">
                <a16:creationId xmlns:a16="http://schemas.microsoft.com/office/drawing/2014/main" id="{0C0F7BEC-4210-4EE9-AC31-2E5012A4AF06}"/>
              </a:ext>
            </a:extLst>
          </p:cNvPr>
          <p:cNvSpPr>
            <a:spLocks xmlns:a="http://schemas.openxmlformats.org/drawingml/2006/main" noGrp="1"/>
          </p:cNvSpPr>
          <p:nvPr/>
        </p:nvSpPr>
        <p:spPr>
          <a:xfrm xmlns:a="http://schemas.openxmlformats.org/drawingml/2006/main">
            <a:off x="609600" y="21907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83D36"/>
                </a:solidFill>
                <a:latin typeface="Calibri"/>
                <a:ea typeface="Calibri"/>
                <a:cs typeface="Calibri"/>
              </a:defRPr>
            </a:defPPr>
          </a:lstStyle>
          <a:p xmlns:a="http://schemas.openxmlformats.org/drawingml/2006/main">
            <a:pPr>
              <a:buNone/>
              <a:defRPr sz="2250" b="1">
                <a:solidFill>
                  <a:srgbClr val="183D36"/>
                </a:solidFill>
                <a:latin typeface="Calibri"/>
                <a:ea typeface="Calibri"/>
                <a:cs typeface="Calibri"/>
              </a:defRPr>
            </a:pPr>
            <a:r>
              <a:rPr sz="2250" b="1">
                <a:solidFill>
                  <a:srgbClr val="183D36"/>
                </a:solidFill>
                <a:latin typeface="Calibri"/>
                <a:ea typeface="Calibri"/>
                <a:cs typeface="Calibri"/>
              </a:rPr>
              <a:t>“Compare mean exam scores for tutoring yes versus no.”</a:t>
            </a:r>
          </a:p>
        </p:txBody>
      </p:sp>
      <p:sp>
        <p:nvSpPr>
          <p:cNvPr id="8" name="">
            <a:extLst xmlns:a="http://schemas.openxmlformats.org/drawingml/2006/main">
              <a:ext uri="{FF2B5EF4-FFF2-40B4-BE49-F238E27FC236}">
                <a16:creationId xmlns:a16="http://schemas.microsoft.com/office/drawing/2014/main" id="{ED7F98FB-FBED-42CA-9569-CA6A9870B298}"/>
              </a:ext>
            </a:extLst>
          </p:cNvPr>
          <p:cNvSpPr>
            <a:spLocks xmlns:a="http://schemas.openxmlformats.org/drawingml/2006/main" noGrp="1"/>
          </p:cNvSpPr>
          <p:nvPr/>
        </p:nvSpPr>
        <p:spPr>
          <a:xfrm xmlns:a="http://schemas.openxmlformats.org/drawingml/2006/main">
            <a:off x="609600" y="283845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A904851-1C80-4A9E-9B42-86D2C835D8DA}"/>
              </a:ext>
            </a:extLst>
          </p:cNvPr>
          <p:cNvSpPr>
            <a:spLocks xmlns:a="http://schemas.openxmlformats.org/drawingml/2006/main" noGrp="1"/>
          </p:cNvSpPr>
          <p:nvPr/>
        </p:nvSpPr>
        <p:spPr>
          <a:xfrm xmlns:a="http://schemas.openxmlformats.org/drawingml/2006/main">
            <a:off x="819150" y="286702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buNone/>
              <a:defRPr sz="1800" b="1">
                <a:solidFill>
                  <a:srgbClr val="183D36"/>
                </a:solidFill>
                <a:latin typeface="Calibri"/>
                <a:ea typeface="Calibri"/>
                <a:cs typeface="Calibri"/>
              </a:defRPr>
            </a:pPr>
            <a:r>
              <a:rPr sz="1800" b="1">
                <a:solidFill>
                  <a:srgbClr val="183D36"/>
                </a:solidFill>
                <a:latin typeface="Calibri"/>
                <a:ea typeface="Calibri"/>
                <a:cs typeface="Calibri"/>
              </a:rPr>
              <a:t>Step 1 Plan</a:t>
            </a:r>
          </a:p>
        </p:txBody>
      </p:sp>
      <p:sp>
        <p:nvSpPr>
          <p:cNvPr id="10" name="">
            <a:extLst xmlns:a="http://schemas.openxmlformats.org/drawingml/2006/main">
              <a:ext uri="{FF2B5EF4-FFF2-40B4-BE49-F238E27FC236}">
                <a16:creationId xmlns:a16="http://schemas.microsoft.com/office/drawing/2014/main" id="{96E8AD41-B186-4BED-9F31-9B35A60DFE8A}"/>
              </a:ext>
            </a:extLst>
          </p:cNvPr>
          <p:cNvSpPr>
            <a:spLocks xmlns:a="http://schemas.openxmlformats.org/drawingml/2006/main" noGrp="1"/>
          </p:cNvSpPr>
          <p:nvPr/>
        </p:nvSpPr>
        <p:spPr>
          <a:xfrm xmlns:a="http://schemas.openxmlformats.org/drawingml/2006/main">
            <a:off x="3105150" y="286702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buNone/>
              <a:defRPr sz="1725" b="0">
                <a:solidFill>
                  <a:srgbClr val="183D36"/>
                </a:solidFill>
                <a:latin typeface="Calibri"/>
                <a:ea typeface="Calibri"/>
                <a:cs typeface="Calibri"/>
              </a:defRPr>
            </a:pPr>
            <a:r>
              <a:rPr sz="1725" b="0">
                <a:solidFill>
                  <a:srgbClr val="183D36"/>
                </a:solidFill>
                <a:latin typeface="Calibri"/>
                <a:ea typeface="Calibri"/>
                <a:cs typeface="Calibri"/>
              </a:rPr>
              <a:t>H0: Δ = 0; H1: Δ ≠ 0; α = 0.05; Δ = μ(yes) − μ(no)</a:t>
            </a:r>
          </a:p>
        </p:txBody>
      </p:sp>
      <p:sp>
        <p:nvSpPr>
          <p:cNvPr id="11" name="">
            <a:extLst xmlns:a="http://schemas.openxmlformats.org/drawingml/2006/main">
              <a:ext uri="{FF2B5EF4-FFF2-40B4-BE49-F238E27FC236}">
                <a16:creationId xmlns:a16="http://schemas.microsoft.com/office/drawing/2014/main" id="{03D86929-554E-4A90-96C5-B9A0FA055526}"/>
              </a:ext>
            </a:extLst>
          </p:cNvPr>
          <p:cNvSpPr>
            <a:spLocks xmlns:a="http://schemas.openxmlformats.org/drawingml/2006/main" noGrp="1"/>
          </p:cNvSpPr>
          <p:nvPr/>
        </p:nvSpPr>
        <p:spPr>
          <a:xfrm xmlns:a="http://schemas.openxmlformats.org/drawingml/2006/main">
            <a:off x="609600" y="3400425"/>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0FB4F8-5D73-4F04-8932-F6BB7032C9DC}"/>
              </a:ext>
            </a:extLst>
          </p:cNvPr>
          <p:cNvSpPr>
            <a:spLocks xmlns:a="http://schemas.openxmlformats.org/drawingml/2006/main" noGrp="1"/>
          </p:cNvSpPr>
          <p:nvPr/>
        </p:nvSpPr>
        <p:spPr>
          <a:xfrm xmlns:a="http://schemas.openxmlformats.org/drawingml/2006/main">
            <a:off x="819150" y="3429000"/>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buNone/>
              <a:defRPr sz="1800" b="1">
                <a:solidFill>
                  <a:srgbClr val="183D36"/>
                </a:solidFill>
                <a:latin typeface="Calibri"/>
                <a:ea typeface="Calibri"/>
                <a:cs typeface="Calibri"/>
              </a:defRPr>
            </a:pPr>
            <a:r>
              <a:rPr sz="1800" b="1">
                <a:solidFill>
                  <a:srgbClr val="183D36"/>
                </a:solidFill>
                <a:latin typeface="Calibri"/>
                <a:ea typeface="Calibri"/>
                <a:cs typeface="Calibri"/>
              </a:rPr>
              <a:t>Step 2 Design</a:t>
            </a:r>
          </a:p>
        </p:txBody>
      </p:sp>
      <p:sp>
        <p:nvSpPr>
          <p:cNvPr id="13" name="">
            <a:extLst xmlns:a="http://schemas.openxmlformats.org/drawingml/2006/main">
              <a:ext uri="{FF2B5EF4-FFF2-40B4-BE49-F238E27FC236}">
                <a16:creationId xmlns:a16="http://schemas.microsoft.com/office/drawing/2014/main" id="{01EAEE14-7604-4F0D-8438-DA4D8B4B216E}"/>
              </a:ext>
            </a:extLst>
          </p:cNvPr>
          <p:cNvSpPr>
            <a:spLocks xmlns:a="http://schemas.openxmlformats.org/drawingml/2006/main" noGrp="1"/>
          </p:cNvSpPr>
          <p:nvPr/>
        </p:nvSpPr>
        <p:spPr>
          <a:xfrm xmlns:a="http://schemas.openxmlformats.org/drawingml/2006/main">
            <a:off x="3105150" y="3429000"/>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buNone/>
              <a:defRPr sz="1725" b="0">
                <a:solidFill>
                  <a:srgbClr val="183D36"/>
                </a:solidFill>
                <a:latin typeface="Calibri"/>
                <a:ea typeface="Calibri"/>
                <a:cs typeface="Calibri"/>
              </a:defRPr>
            </a:pPr>
            <a:r>
              <a:rPr sz="1725" b="0">
                <a:solidFill>
                  <a:srgbClr val="183D36"/>
                </a:solidFill>
                <a:latin typeface="Calibri"/>
                <a:ea typeface="Calibri"/>
                <a:cs typeface="Calibri"/>
              </a:rPr>
              <a:t>Supplied teaching metadata: independent records; nonrandom tutoring</a:t>
            </a:r>
          </a:p>
        </p:txBody>
      </p:sp>
      <p:sp>
        <p:nvSpPr>
          <p:cNvPr id="14" name="">
            <a:extLst xmlns:a="http://schemas.openxmlformats.org/drawingml/2006/main">
              <a:ext uri="{FF2B5EF4-FFF2-40B4-BE49-F238E27FC236}">
                <a16:creationId xmlns:a16="http://schemas.microsoft.com/office/drawing/2014/main" id="{1BAC898A-EA24-484B-8DE3-B9AB885A3E72}"/>
              </a:ext>
            </a:extLst>
          </p:cNvPr>
          <p:cNvSpPr>
            <a:spLocks xmlns:a="http://schemas.openxmlformats.org/drawingml/2006/main" noGrp="1"/>
          </p:cNvSpPr>
          <p:nvPr/>
        </p:nvSpPr>
        <p:spPr>
          <a:xfrm xmlns:a="http://schemas.openxmlformats.org/drawingml/2006/main">
            <a:off x="609600" y="396240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B5FF22F-9DE3-43B7-8CCA-3D0E0871C05C}"/>
              </a:ext>
            </a:extLst>
          </p:cNvPr>
          <p:cNvSpPr>
            <a:spLocks xmlns:a="http://schemas.openxmlformats.org/drawingml/2006/main" noGrp="1"/>
          </p:cNvSpPr>
          <p:nvPr/>
        </p:nvSpPr>
        <p:spPr>
          <a:xfrm xmlns:a="http://schemas.openxmlformats.org/drawingml/2006/main">
            <a:off x="819150" y="399097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buNone/>
              <a:defRPr sz="1800" b="1">
                <a:solidFill>
                  <a:srgbClr val="183D36"/>
                </a:solidFill>
                <a:latin typeface="Calibri"/>
                <a:ea typeface="Calibri"/>
                <a:cs typeface="Calibri"/>
              </a:defRPr>
            </a:pPr>
            <a:r>
              <a:rPr sz="1800" b="1">
                <a:solidFill>
                  <a:srgbClr val="183D36"/>
                </a:solidFill>
                <a:latin typeface="Calibri"/>
                <a:ea typeface="Calibri"/>
                <a:cs typeface="Calibri"/>
              </a:rPr>
              <a:t>Step 3 Checks</a:t>
            </a:r>
          </a:p>
        </p:txBody>
      </p:sp>
      <p:sp>
        <p:nvSpPr>
          <p:cNvPr id="16" name="">
            <a:extLst xmlns:a="http://schemas.openxmlformats.org/drawingml/2006/main">
              <a:ext uri="{FF2B5EF4-FFF2-40B4-BE49-F238E27FC236}">
                <a16:creationId xmlns:a16="http://schemas.microsoft.com/office/drawing/2014/main" id="{BF3B052A-D31F-4183-97A7-3276B9D1D646}"/>
              </a:ext>
            </a:extLst>
          </p:cNvPr>
          <p:cNvSpPr>
            <a:spLocks xmlns:a="http://schemas.openxmlformats.org/drawingml/2006/main" noGrp="1"/>
          </p:cNvSpPr>
          <p:nvPr/>
        </p:nvSpPr>
        <p:spPr>
          <a:xfrm xmlns:a="http://schemas.openxmlformats.org/drawingml/2006/main">
            <a:off x="3105150" y="399097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buNone/>
              <a:defRPr sz="1725" b="0">
                <a:solidFill>
                  <a:srgbClr val="183D36"/>
                </a:solidFill>
                <a:latin typeface="Calibri"/>
                <a:ea typeface="Calibri"/>
                <a:cs typeface="Calibri"/>
              </a:defRPr>
            </a:pPr>
            <a:r>
              <a:rPr sz="1725" b="0">
                <a:solidFill>
                  <a:srgbClr val="183D36"/>
                </a:solidFill>
                <a:latin typeface="Calibri"/>
                <a:ea typeface="Calibri"/>
                <a:cs typeface="Calibri"/>
              </a:rPr>
              <a:t>Mean comparison → Welch; finite values, missingness, n and variation</a:t>
            </a:r>
          </a:p>
        </p:txBody>
      </p:sp>
      <p:sp>
        <p:nvSpPr>
          <p:cNvPr id="17" name="">
            <a:extLst xmlns:a="http://schemas.openxmlformats.org/drawingml/2006/main">
              <a:ext uri="{FF2B5EF4-FFF2-40B4-BE49-F238E27FC236}">
                <a16:creationId xmlns:a16="http://schemas.microsoft.com/office/drawing/2014/main" id="{403BCE0F-CC21-48C5-A91C-0D376C22EEB4}"/>
              </a:ext>
            </a:extLst>
          </p:cNvPr>
          <p:cNvSpPr>
            <a:spLocks xmlns:a="http://schemas.openxmlformats.org/drawingml/2006/main" noGrp="1"/>
          </p:cNvSpPr>
          <p:nvPr/>
        </p:nvSpPr>
        <p:spPr>
          <a:xfrm xmlns:a="http://schemas.openxmlformats.org/drawingml/2006/main">
            <a:off x="609600" y="4524375"/>
            <a:ext cx="47625" cy="457200"/>
          </a:xfrm>
          <a:prstGeom xmlns:a="http://schemas.openxmlformats.org/drawingml/2006/main" prst="rect">
            <a:avLst/>
          </a:prstGeom>
          <a:solidFill xmlns:a="http://schemas.openxmlformats.org/drawingml/2006/main">
            <a:srgbClr val="BD503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6748A1-8FC2-450E-8873-ECB0617E8A81}"/>
              </a:ext>
            </a:extLst>
          </p:cNvPr>
          <p:cNvSpPr>
            <a:spLocks xmlns:a="http://schemas.openxmlformats.org/drawingml/2006/main" noGrp="1"/>
          </p:cNvSpPr>
          <p:nvPr/>
        </p:nvSpPr>
        <p:spPr>
          <a:xfrm xmlns:a="http://schemas.openxmlformats.org/drawingml/2006/main">
            <a:off x="819150" y="4552950"/>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buNone/>
              <a:defRPr sz="1800" b="1">
                <a:solidFill>
                  <a:srgbClr val="183D36"/>
                </a:solidFill>
                <a:latin typeface="Calibri"/>
                <a:ea typeface="Calibri"/>
                <a:cs typeface="Calibri"/>
              </a:defRPr>
            </a:pPr>
            <a:r>
              <a:rPr sz="1800" b="1">
                <a:solidFill>
                  <a:srgbClr val="183D36"/>
                </a:solidFill>
                <a:latin typeface="Calibri"/>
                <a:ea typeface="Calibri"/>
                <a:cs typeface="Calibri"/>
              </a:rPr>
              <a:t>Step 4 SciPy</a:t>
            </a:r>
          </a:p>
        </p:txBody>
      </p:sp>
      <p:sp>
        <p:nvSpPr>
          <p:cNvPr id="19" name="">
            <a:extLst xmlns:a="http://schemas.openxmlformats.org/drawingml/2006/main">
              <a:ext uri="{FF2B5EF4-FFF2-40B4-BE49-F238E27FC236}">
                <a16:creationId xmlns:a16="http://schemas.microsoft.com/office/drawing/2014/main" id="{C94F2BBC-2995-49B4-8EB5-A9CAF9F7B9B9}"/>
              </a:ext>
            </a:extLst>
          </p:cNvPr>
          <p:cNvSpPr>
            <a:spLocks xmlns:a="http://schemas.openxmlformats.org/drawingml/2006/main" noGrp="1"/>
          </p:cNvSpPr>
          <p:nvPr/>
        </p:nvSpPr>
        <p:spPr>
          <a:xfrm xmlns:a="http://schemas.openxmlformats.org/drawingml/2006/main">
            <a:off x="3105150" y="4552950"/>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buNone/>
              <a:defRPr sz="1725" b="0">
                <a:solidFill>
                  <a:srgbClr val="183D36"/>
                </a:solidFill>
                <a:latin typeface="Calibri"/>
                <a:ea typeface="Calibri"/>
                <a:cs typeface="Calibri"/>
              </a:defRPr>
            </a:pPr>
            <a:r>
              <a:rPr sz="1725" b="0">
                <a:solidFill>
                  <a:srgbClr val="183D36"/>
                </a:solidFill>
                <a:latin typeface="Calibri"/>
                <a:ea typeface="Calibri"/>
                <a:cs typeface="Calibri"/>
              </a:rPr>
              <a:t>Mean difference = 6.92 points; 95% CI [2.97, 10.87]; p = 0.000824</a:t>
            </a:r>
          </a:p>
        </p:txBody>
      </p:sp>
      <p:sp>
        <p:nvSpPr>
          <p:cNvPr id="20" name="">
            <a:extLst xmlns:a="http://schemas.openxmlformats.org/drawingml/2006/main">
              <a:ext uri="{FF2B5EF4-FFF2-40B4-BE49-F238E27FC236}">
                <a16:creationId xmlns:a16="http://schemas.microsoft.com/office/drawing/2014/main" id="{9C12223E-9E9F-493E-B3AE-B9652CC0BE10}"/>
              </a:ext>
            </a:extLst>
          </p:cNvPr>
          <p:cNvSpPr>
            <a:spLocks xmlns:a="http://schemas.openxmlformats.org/drawingml/2006/main" noGrp="1"/>
          </p:cNvSpPr>
          <p:nvPr/>
        </p:nvSpPr>
        <p:spPr>
          <a:xfrm xmlns:a="http://schemas.openxmlformats.org/drawingml/2006/main">
            <a:off x="609600" y="5086350"/>
            <a:ext cx="47625" cy="45720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3F4592-ECDF-4357-870F-5BAF29CFC9A0}"/>
              </a:ext>
            </a:extLst>
          </p:cNvPr>
          <p:cNvSpPr>
            <a:spLocks xmlns:a="http://schemas.openxmlformats.org/drawingml/2006/main" noGrp="1"/>
          </p:cNvSpPr>
          <p:nvPr/>
        </p:nvSpPr>
        <p:spPr>
          <a:xfrm xmlns:a="http://schemas.openxmlformats.org/drawingml/2006/main">
            <a:off x="819150" y="5114925"/>
            <a:ext cx="2257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D36"/>
                </a:solidFill>
                <a:latin typeface="Calibri"/>
                <a:ea typeface="Calibri"/>
                <a:cs typeface="Calibri"/>
              </a:defRPr>
            </a:defPPr>
          </a:lstStyle>
          <a:p xmlns:a="http://schemas.openxmlformats.org/drawingml/2006/main">
            <a:pPr>
              <a:buNone/>
              <a:defRPr sz="1800" b="1">
                <a:solidFill>
                  <a:srgbClr val="183D36"/>
                </a:solidFill>
                <a:latin typeface="Calibri"/>
                <a:ea typeface="Calibri"/>
                <a:cs typeface="Calibri"/>
              </a:defRPr>
            </a:pPr>
            <a:r>
              <a:rPr sz="1800" b="1">
                <a:solidFill>
                  <a:srgbClr val="183D36"/>
                </a:solidFill>
                <a:latin typeface="Calibri"/>
                <a:ea typeface="Calibri"/>
                <a:cs typeface="Calibri"/>
              </a:rPr>
              <a:t>Step 5 Review</a:t>
            </a:r>
          </a:p>
        </p:txBody>
      </p:sp>
      <p:sp>
        <p:nvSpPr>
          <p:cNvPr id="22" name="">
            <a:extLst xmlns:a="http://schemas.openxmlformats.org/drawingml/2006/main">
              <a:ext uri="{FF2B5EF4-FFF2-40B4-BE49-F238E27FC236}">
                <a16:creationId xmlns:a16="http://schemas.microsoft.com/office/drawing/2014/main" id="{FD7F84F9-0626-43A2-9C64-DBEC8BCB8374}"/>
              </a:ext>
            </a:extLst>
          </p:cNvPr>
          <p:cNvSpPr>
            <a:spLocks xmlns:a="http://schemas.openxmlformats.org/drawingml/2006/main" noGrp="1"/>
          </p:cNvSpPr>
          <p:nvPr/>
        </p:nvSpPr>
        <p:spPr>
          <a:xfrm xmlns:a="http://schemas.openxmlformats.org/drawingml/2006/main">
            <a:off x="3105150" y="5114925"/>
            <a:ext cx="844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83D36"/>
                </a:solidFill>
                <a:latin typeface="Calibri"/>
                <a:ea typeface="Calibri"/>
                <a:cs typeface="Calibri"/>
              </a:defRPr>
            </a:defPPr>
          </a:lstStyle>
          <a:p xmlns:a="http://schemas.openxmlformats.org/drawingml/2006/main">
            <a:pPr>
              <a:buNone/>
              <a:defRPr sz="1725" b="0">
                <a:solidFill>
                  <a:srgbClr val="183D36"/>
                </a:solidFill>
                <a:latin typeface="Calibri"/>
                <a:ea typeface="Calibri"/>
                <a:cs typeface="Calibri"/>
              </a:defRPr>
            </a:pPr>
            <a:r>
              <a:rPr sz="1725" b="0">
                <a:solidFill>
                  <a:srgbClr val="183D36"/>
                </a:solidFill>
                <a:latin typeface="Calibri"/>
                <a:ea typeface="Calibri"/>
                <a:cs typeface="Calibri"/>
              </a:rPr>
              <a:t>Reject H0 at α = 0.05; observed difference does not establish causation</a:t>
            </a:r>
          </a:p>
        </p:txBody>
      </p:sp>
      <p:sp>
        <p:nvSpPr>
          <p:cNvPr id="23" name="">
            <a:extLst xmlns:a="http://schemas.openxmlformats.org/drawingml/2006/main">
              <a:ext uri="{FF2B5EF4-FFF2-40B4-BE49-F238E27FC236}">
                <a16:creationId xmlns:a16="http://schemas.microsoft.com/office/drawing/2014/main" id="{F5CB88E8-6542-4F17-BA7C-73224771A3AE}"/>
              </a:ext>
            </a:extLst>
          </p:cNvPr>
          <p:cNvSpPr>
            <a:spLocks xmlns:a="http://schemas.openxmlformats.org/drawingml/2006/main" noGrp="1"/>
          </p:cNvSpPr>
          <p:nvPr/>
        </p:nvSpPr>
        <p:spPr>
          <a:xfrm xmlns:a="http://schemas.openxmlformats.org/drawingml/2006/main">
            <a:off x="609600" y="58578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D5036"/>
                </a:solidFill>
                <a:latin typeface="Calibri"/>
                <a:ea typeface="Calibri"/>
                <a:cs typeface="Calibri"/>
              </a:defRPr>
            </a:defPPr>
          </a:lstStyle>
          <a:p xmlns:a="http://schemas.openxmlformats.org/drawingml/2006/main">
            <a:pPr>
              <a:buNone/>
              <a:defRPr sz="1725" b="1">
                <a:solidFill>
                  <a:srgbClr val="BD5036"/>
                </a:solidFill>
                <a:latin typeface="Calibri"/>
                <a:ea typeface="Calibri"/>
                <a:cs typeface="Calibri"/>
              </a:defRPr>
            </a:pPr>
            <a:r>
              <a:rPr sz="1725" b="1">
                <a:solidFill>
                  <a:srgbClr val="BD5036"/>
                </a:solidFill>
                <a:latin typeface="Calibri"/>
                <a:ea typeface="Calibri"/>
                <a:cs typeface="Calibri"/>
              </a:rPr>
              <a:t>Welch allows unequal variances. Correlation addresses a different statistical target.</a:t>
            </a:r>
          </a:p>
        </p:txBody>
      </p:sp>
    </p:spTree>
    <p:extLst>
      <p:ext uri="{BB962C8B-B14F-4D97-AF65-F5344CB8AC3E}">
        <p14:creationId xmlns:p14="http://schemas.microsoft.com/office/powerpoint/2010/main" val="54048084"/>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84F1CA-98E6-42B6-953E-9F71E642566D}"/>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buNone/>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1E373DAE-A3C8-40B5-A1A3-67953C49081E}"/>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buNone/>
              <a:defRPr sz="3225" b="1">
                <a:solidFill>
                  <a:srgbClr val="183D36"/>
                </a:solidFill>
                <a:latin typeface="Calibri"/>
                <a:ea typeface="Calibri"/>
                <a:cs typeface="Calibri"/>
              </a:defRPr>
            </a:pPr>
            <a:r>
              <a:rPr sz="3225" b="1">
                <a:solidFill>
                  <a:srgbClr val="183D36"/>
                </a:solidFill>
                <a:latin typeface="Calibri"/>
                <a:ea typeface="Calibri"/>
                <a:cs typeface="Calibri"/>
              </a:rPr>
              <a:t>Follow-ups and evaluation evidence</a:t>
            </a:r>
          </a:p>
        </p:txBody>
      </p:sp>
      <p:sp>
        <p:nvSpPr>
          <p:cNvPr id="3" name="">
            <a:extLst xmlns:a="http://schemas.openxmlformats.org/drawingml/2006/main">
              <a:ext uri="{FF2B5EF4-FFF2-40B4-BE49-F238E27FC236}">
                <a16:creationId xmlns:a16="http://schemas.microsoft.com/office/drawing/2014/main" id="{76DEFC40-7870-4EEA-BACE-7B898A72E451}"/>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B290A1-B825-4AC1-9D84-436F90833B67}"/>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Jingcheng Zhou and Junliang Lyu</a:t>
            </a:r>
          </a:p>
        </p:txBody>
      </p:sp>
      <p:sp>
        <p:nvSpPr>
          <p:cNvPr id="5" name="">
            <a:extLst xmlns:a="http://schemas.openxmlformats.org/drawingml/2006/main">
              <a:ext uri="{FF2B5EF4-FFF2-40B4-BE49-F238E27FC236}">
                <a16:creationId xmlns:a16="http://schemas.microsoft.com/office/drawing/2014/main" id="{B5CFF31A-098F-45A9-A406-30B2B5FB760E}"/>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4 / 5</a:t>
            </a:r>
          </a:p>
        </p:txBody>
      </p:sp>
      <p:sp>
        <p:nvSpPr>
          <p:cNvPr id="6" name="">
            <a:extLst xmlns:a="http://schemas.openxmlformats.org/drawingml/2006/main">
              <a:ext uri="{FF2B5EF4-FFF2-40B4-BE49-F238E27FC236}">
                <a16:creationId xmlns:a16="http://schemas.microsoft.com/office/drawing/2014/main" id="{DCC1894B-B59C-40A2-A1BC-D334BCFA4A15}"/>
              </a:ext>
            </a:extLst>
          </p:cNvPr>
          <p:cNvSpPr>
            <a:spLocks xmlns:a="http://schemas.openxmlformats.org/drawingml/2006/main" noGrp="1"/>
          </p:cNvSpPr>
          <p:nvPr/>
        </p:nvSpPr>
        <p:spPr>
          <a:xfrm xmlns:a="http://schemas.openxmlformats.org/drawingml/2006/main">
            <a:off x="609600" y="1809750"/>
            <a:ext cx="4905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83D36"/>
                </a:solidFill>
                <a:latin typeface="Calibri"/>
                <a:ea typeface="Calibri"/>
                <a:cs typeface="Calibri"/>
              </a:defRPr>
            </a:defPPr>
          </a:lstStyle>
          <a:p xmlns:a="http://schemas.openxmlformats.org/drawingml/2006/main">
            <a:pPr>
              <a:buNone/>
              <a:defRPr sz="2475" b="1">
                <a:solidFill>
                  <a:srgbClr val="183D36"/>
                </a:solidFill>
                <a:latin typeface="Calibri"/>
                <a:ea typeface="Calibri"/>
                <a:cs typeface="Calibri"/>
              </a:defRPr>
            </a:pPr>
            <a:r>
              <a:rPr sz="2475" b="1">
                <a:solidFill>
                  <a:srgbClr val="183D36"/>
                </a:solidFill>
                <a:latin typeface="Calibri"/>
                <a:ea typeface="Calibri"/>
                <a:cs typeface="Calibri"/>
              </a:rPr>
              <a:t>“Explain the result.”</a:t>
            </a:r>
          </a:p>
        </p:txBody>
      </p:sp>
      <p:sp>
        <p:nvSpPr>
          <p:cNvPr id="7" name="">
            <a:extLst xmlns:a="http://schemas.openxmlformats.org/drawingml/2006/main">
              <a:ext uri="{FF2B5EF4-FFF2-40B4-BE49-F238E27FC236}">
                <a16:creationId xmlns:a16="http://schemas.microsoft.com/office/drawing/2014/main" id="{6A6DAC5E-92AF-4813-903A-A2108D2D4600}"/>
              </a:ext>
            </a:extLst>
          </p:cNvPr>
          <p:cNvSpPr>
            <a:spLocks xmlns:a="http://schemas.openxmlformats.org/drawingml/2006/main" noGrp="1"/>
          </p:cNvSpPr>
          <p:nvPr/>
        </p:nvSpPr>
        <p:spPr>
          <a:xfrm xmlns:a="http://schemas.openxmlformats.org/drawingml/2006/main">
            <a:off x="609600" y="2486025"/>
            <a:ext cx="48958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6"/>
                </a:solidFill>
                <a:latin typeface="Calibri"/>
                <a:ea typeface="Calibri"/>
                <a:cs typeface="Calibri"/>
              </a:defRPr>
            </a:defPPr>
          </a:lstStyle>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Reuse validated statistics</a:t>
            </a:r>
          </a:p>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Draft and review fresh prose</a:t>
            </a:r>
          </a:p>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Memory lasts for one process</a:t>
            </a:r>
          </a:p>
        </p:txBody>
      </p:sp>
      <p:sp>
        <p:nvSpPr>
          <p:cNvPr id="8" name="">
            <a:extLst xmlns:a="http://schemas.openxmlformats.org/drawingml/2006/main">
              <a:ext uri="{FF2B5EF4-FFF2-40B4-BE49-F238E27FC236}">
                <a16:creationId xmlns:a16="http://schemas.microsoft.com/office/drawing/2014/main" id="{97C43EA7-6804-4E1E-A479-BC116E8E1FE3}"/>
              </a:ext>
            </a:extLst>
          </p:cNvPr>
          <p:cNvSpPr>
            <a:spLocks xmlns:a="http://schemas.openxmlformats.org/drawingml/2006/main" noGrp="1"/>
          </p:cNvSpPr>
          <p:nvPr/>
        </p:nvSpPr>
        <p:spPr>
          <a:xfrm xmlns:a="http://schemas.openxmlformats.org/drawingml/2006/main">
            <a:off x="6591300" y="1809750"/>
            <a:ext cx="4933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83D36"/>
                </a:solidFill>
                <a:latin typeface="Calibri"/>
                <a:ea typeface="Calibri"/>
                <a:cs typeface="Calibri"/>
              </a:defRPr>
            </a:defPPr>
          </a:lstStyle>
          <a:p xmlns:a="http://schemas.openxmlformats.org/drawingml/2006/main">
            <a:pPr>
              <a:buNone/>
              <a:defRPr sz="2475" b="1">
                <a:solidFill>
                  <a:srgbClr val="183D36"/>
                </a:solidFill>
                <a:latin typeface="Calibri"/>
                <a:ea typeface="Calibri"/>
                <a:cs typeface="Calibri"/>
              </a:defRPr>
            </a:pPr>
            <a:r>
              <a:rPr sz="2475" b="1">
                <a:solidFill>
                  <a:srgbClr val="183D36"/>
                </a:solidFill>
                <a:latin typeface="Calibri"/>
                <a:ea typeface="Calibri"/>
                <a:cs typeface="Calibri"/>
              </a:rPr>
              <a:t>“Report a 99% CI.”</a:t>
            </a:r>
          </a:p>
        </p:txBody>
      </p:sp>
      <p:sp>
        <p:nvSpPr>
          <p:cNvPr id="9" name="">
            <a:extLst xmlns:a="http://schemas.openxmlformats.org/drawingml/2006/main">
              <a:ext uri="{FF2B5EF4-FFF2-40B4-BE49-F238E27FC236}">
                <a16:creationId xmlns:a16="http://schemas.microsoft.com/office/drawing/2014/main" id="{12E6CB26-253E-4183-8191-273A27439D27}"/>
              </a:ext>
            </a:extLst>
          </p:cNvPr>
          <p:cNvSpPr>
            <a:spLocks xmlns:a="http://schemas.openxmlformats.org/drawingml/2006/main" noGrp="1"/>
          </p:cNvSpPr>
          <p:nvPr/>
        </p:nvSpPr>
        <p:spPr>
          <a:xfrm xmlns:a="http://schemas.openxmlformats.org/drawingml/2006/main">
            <a:off x="6591300" y="248602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83D36"/>
                </a:solidFill>
                <a:latin typeface="Calibri"/>
                <a:ea typeface="Calibri"/>
                <a:cs typeface="Calibri"/>
              </a:defRPr>
            </a:defPPr>
          </a:lstStyle>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Recompute CI: [1.68, 12.16]</a:t>
            </a:r>
          </a:p>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Same estimate, p-value and α</a:t>
            </a:r>
          </a:p>
          <a:p xmlns:a="http://schemas.openxmlformats.org/drawingml/2006/main">
            <a:pPr>
              <a:buNone/>
              <a:defRPr sz="2100" b="0">
                <a:solidFill>
                  <a:srgbClr val="183D36"/>
                </a:solidFill>
                <a:latin typeface="Calibri"/>
                <a:ea typeface="Calibri"/>
                <a:cs typeface="Calibri"/>
              </a:defRPr>
            </a:pPr>
            <a:r>
              <a:rPr sz="2100" b="0">
                <a:solidFill>
                  <a:srgbClr val="183D36"/>
                </a:solidFill>
                <a:latin typeface="Calibri"/>
                <a:ea typeface="Calibri"/>
                <a:cs typeface="Calibri"/>
              </a:rPr>
              <a:t>Filtering requires a new CSV</a:t>
            </a:r>
          </a:p>
        </p:txBody>
      </p:sp>
      <p:sp>
        <p:nvSpPr>
          <p:cNvPr id="10" name="">
            <a:extLst xmlns:a="http://schemas.openxmlformats.org/drawingml/2006/main">
              <a:ext uri="{FF2B5EF4-FFF2-40B4-BE49-F238E27FC236}">
                <a16:creationId xmlns:a16="http://schemas.microsoft.com/office/drawing/2014/main" id="{A5B51101-4E74-491A-8622-FB802820A44F}"/>
              </a:ext>
            </a:extLst>
          </p:cNvPr>
          <p:cNvSpPr>
            <a:spLocks xmlns:a="http://schemas.openxmlformats.org/drawingml/2006/main" noGrp="1"/>
          </p:cNvSpPr>
          <p:nvPr/>
        </p:nvSpPr>
        <p:spPr>
          <a:xfrm xmlns:a="http://schemas.openxmlformats.org/drawingml/2006/main">
            <a:off x="5953125" y="1800225"/>
            <a:ext cx="19050" cy="1971675"/>
          </a:xfrm>
          <a:prstGeom xmlns:a="http://schemas.openxmlformats.org/drawingml/2006/main" prst="rect">
            <a:avLst/>
          </a:prstGeom>
          <a:solidFill xmlns:a="http://schemas.openxmlformats.org/drawingml/2006/main">
            <a:srgbClr val="65766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070331-9EE5-4F30-9958-4BE5FB2F4E0B}"/>
              </a:ext>
            </a:extLst>
          </p:cNvPr>
          <p:cNvSpPr>
            <a:spLocks xmlns:a="http://schemas.openxmlformats.org/drawingml/2006/main" noGrp="1"/>
          </p:cNvSpPr>
          <p:nvPr/>
        </p:nvSpPr>
        <p:spPr>
          <a:xfrm xmlns:a="http://schemas.openxmlformats.org/drawingml/2006/main">
            <a:off x="609600" y="42672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BD5036"/>
                </a:solidFill>
                <a:latin typeface="Calibri"/>
                <a:ea typeface="Calibri"/>
                <a:cs typeface="Calibri"/>
              </a:defRPr>
            </a:defPPr>
          </a:lstStyle>
          <a:p xmlns:a="http://schemas.openxmlformats.org/drawingml/2006/main">
            <a:pPr>
              <a:buNone/>
              <a:defRPr sz="1500" b="1">
                <a:solidFill>
                  <a:srgbClr val="BD5036"/>
                </a:solidFill>
                <a:latin typeface="Calibri"/>
                <a:ea typeface="Calibri"/>
                <a:cs typeface="Calibri"/>
              </a:defRPr>
            </a:pPr>
            <a:r>
              <a:rPr sz="1500" b="1">
                <a:solidFill>
                  <a:srgbClr val="BD5036"/>
                </a:solidFill>
                <a:latin typeface="Calibri"/>
                <a:ea typeface="Calibri"/>
                <a:cs typeface="Calibri"/>
              </a:rPr>
              <a:t>EVALUATION EVIDENCE</a:t>
            </a:r>
          </a:p>
        </p:txBody>
      </p:sp>
      <p:sp>
        <p:nvSpPr>
          <p:cNvPr id="12" name="">
            <a:extLst xmlns:a="http://schemas.openxmlformats.org/drawingml/2006/main">
              <a:ext uri="{FF2B5EF4-FFF2-40B4-BE49-F238E27FC236}">
                <a16:creationId xmlns:a16="http://schemas.microsoft.com/office/drawing/2014/main" id="{F5DD0085-58D7-42DF-B04F-324B01324252}"/>
              </a:ext>
            </a:extLst>
          </p:cNvPr>
          <p:cNvSpPr>
            <a:spLocks xmlns:a="http://schemas.openxmlformats.org/drawingml/2006/main" noGrp="1"/>
          </p:cNvSpPr>
          <p:nvPr/>
        </p:nvSpPr>
        <p:spPr>
          <a:xfrm xmlns:a="http://schemas.openxmlformats.org/drawingml/2006/main">
            <a:off x="609600" y="4714875"/>
            <a:ext cx="320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83D36"/>
                </a:solidFill>
                <a:latin typeface="Calibri"/>
                <a:ea typeface="Calibri"/>
                <a:cs typeface="Calibri"/>
              </a:defRPr>
            </a:defPPr>
          </a:lstStyle>
          <a:p xmlns:a="http://schemas.openxmlformats.org/drawingml/2006/main">
            <a:pPr>
              <a:buNone/>
              <a:defRPr sz="2400" b="1">
                <a:solidFill>
                  <a:srgbClr val="183D36"/>
                </a:solidFill>
                <a:latin typeface="Calibri"/>
                <a:ea typeface="Calibri"/>
                <a:cs typeface="Calibri"/>
              </a:defRPr>
            </a:pPr>
            <a:r>
              <a:rPr sz="2400" b="1">
                <a:solidFill>
                  <a:srgbClr val="183D36"/>
                </a:solidFill>
                <a:latin typeface="Calibri"/>
                <a:ea typeface="Calibri"/>
                <a:cs typeface="Calibri"/>
              </a:rPr>
              <a:t>93 offline tests</a:t>
            </a:r>
          </a:p>
        </p:txBody>
      </p:sp>
      <p:sp>
        <p:nvSpPr>
          <p:cNvPr id="13" name="">
            <a:extLst xmlns:a="http://schemas.openxmlformats.org/drawingml/2006/main">
              <a:ext uri="{FF2B5EF4-FFF2-40B4-BE49-F238E27FC236}">
                <a16:creationId xmlns:a16="http://schemas.microsoft.com/office/drawing/2014/main" id="{F2C86C8B-DE63-444F-A31E-E8116CBAF61D}"/>
              </a:ext>
            </a:extLst>
          </p:cNvPr>
          <p:cNvSpPr>
            <a:spLocks xmlns:a="http://schemas.openxmlformats.org/drawingml/2006/main" noGrp="1"/>
          </p:cNvSpPr>
          <p:nvPr/>
        </p:nvSpPr>
        <p:spPr>
          <a:xfrm xmlns:a="http://schemas.openxmlformats.org/drawingml/2006/main">
            <a:off x="609600" y="5210175"/>
            <a:ext cx="320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Mock agents; real statistics</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Workflow and report checks</a:t>
            </a:r>
          </a:p>
        </p:txBody>
      </p:sp>
      <p:sp>
        <p:nvSpPr>
          <p:cNvPr id="14" name="">
            <a:extLst xmlns:a="http://schemas.openxmlformats.org/drawingml/2006/main">
              <a:ext uri="{FF2B5EF4-FFF2-40B4-BE49-F238E27FC236}">
                <a16:creationId xmlns:a16="http://schemas.microsoft.com/office/drawing/2014/main" id="{E4878342-7F5E-4F45-B98D-D0DE62A29AB5}"/>
              </a:ext>
            </a:extLst>
          </p:cNvPr>
          <p:cNvSpPr>
            <a:spLocks xmlns:a="http://schemas.openxmlformats.org/drawingml/2006/main" noGrp="1"/>
          </p:cNvSpPr>
          <p:nvPr/>
        </p:nvSpPr>
        <p:spPr>
          <a:xfrm xmlns:a="http://schemas.openxmlformats.org/drawingml/2006/main">
            <a:off x="4343400" y="4714875"/>
            <a:ext cx="27336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D36"/>
                </a:solidFill>
                <a:latin typeface="Calibri"/>
                <a:ea typeface="Calibri"/>
                <a:cs typeface="Calibri"/>
              </a:defRPr>
            </a:defPPr>
          </a:lstStyle>
          <a:p xmlns:a="http://schemas.openxmlformats.org/drawingml/2006/main">
            <a:pPr>
              <a:buNone/>
              <a:defRPr sz="2850" b="1">
                <a:solidFill>
                  <a:srgbClr val="183D36"/>
                </a:solidFill>
                <a:latin typeface="Calibri"/>
                <a:ea typeface="Calibri"/>
                <a:cs typeface="Calibri"/>
              </a:defRPr>
            </a:pPr>
            <a:r>
              <a:rPr sz="2850" b="1">
                <a:solidFill>
                  <a:srgbClr val="183D36"/>
                </a:solidFill>
                <a:latin typeface="Calibri"/>
                <a:ea typeface="Calibri"/>
                <a:cs typeface="Calibri"/>
              </a:rPr>
              <a:t>Real runs</a:t>
            </a:r>
          </a:p>
        </p:txBody>
      </p:sp>
      <p:sp>
        <p:nvSpPr>
          <p:cNvPr id="15" name="">
            <a:extLst xmlns:a="http://schemas.openxmlformats.org/drawingml/2006/main">
              <a:ext uri="{FF2B5EF4-FFF2-40B4-BE49-F238E27FC236}">
                <a16:creationId xmlns:a16="http://schemas.microsoft.com/office/drawing/2014/main" id="{F2BA1B67-9377-4591-AA3C-FBF3338F47D6}"/>
              </a:ext>
            </a:extLst>
          </p:cNvPr>
          <p:cNvSpPr>
            <a:spLocks xmlns:a="http://schemas.openxmlformats.org/drawingml/2006/main" noGrp="1"/>
          </p:cNvSpPr>
          <p:nvPr/>
        </p:nvSpPr>
        <p:spPr>
          <a:xfrm xmlns:a="http://schemas.openxmlformats.org/drawingml/2006/main">
            <a:off x="4343400" y="5210175"/>
            <a:ext cx="29241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Four methods + follow-ups</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Initial + targeted reruns</a:t>
            </a:r>
          </a:p>
        </p:txBody>
      </p:sp>
      <p:sp>
        <p:nvSpPr>
          <p:cNvPr id="16" name="">
            <a:extLst xmlns:a="http://schemas.openxmlformats.org/drawingml/2006/main">
              <a:ext uri="{FF2B5EF4-FFF2-40B4-BE49-F238E27FC236}">
                <a16:creationId xmlns:a16="http://schemas.microsoft.com/office/drawing/2014/main" id="{69DB2B67-F120-440E-AC89-74781E6A7555}"/>
              </a:ext>
            </a:extLst>
          </p:cNvPr>
          <p:cNvSpPr>
            <a:spLocks xmlns:a="http://schemas.openxmlformats.org/drawingml/2006/main" noGrp="1"/>
          </p:cNvSpPr>
          <p:nvPr/>
        </p:nvSpPr>
        <p:spPr>
          <a:xfrm xmlns:a="http://schemas.openxmlformats.org/drawingml/2006/main">
            <a:off x="8143875" y="4714875"/>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D36"/>
                </a:solidFill>
                <a:latin typeface="Calibri"/>
                <a:ea typeface="Calibri"/>
                <a:cs typeface="Calibri"/>
              </a:defRPr>
            </a:defPPr>
          </a:lstStyle>
          <a:p xmlns:a="http://schemas.openxmlformats.org/drawingml/2006/main">
            <a:pPr>
              <a:buNone/>
              <a:defRPr sz="2850" b="1">
                <a:solidFill>
                  <a:srgbClr val="183D36"/>
                </a:solidFill>
                <a:latin typeface="Calibri"/>
                <a:ea typeface="Calibri"/>
                <a:cs typeface="Calibri"/>
              </a:defRPr>
            </a:pPr>
            <a:r>
              <a:rPr sz="2850" b="1">
                <a:solidFill>
                  <a:srgbClr val="183D36"/>
                </a:solidFill>
                <a:latin typeface="Calibri"/>
                <a:ea typeface="Calibri"/>
                <a:cs typeface="Calibri"/>
              </a:rPr>
              <a:t>Human review</a:t>
            </a:r>
          </a:p>
        </p:txBody>
      </p:sp>
      <p:sp>
        <p:nvSpPr>
          <p:cNvPr id="17" name="">
            <a:extLst xmlns:a="http://schemas.openxmlformats.org/drawingml/2006/main">
              <a:ext uri="{FF2B5EF4-FFF2-40B4-BE49-F238E27FC236}">
                <a16:creationId xmlns:a16="http://schemas.microsoft.com/office/drawing/2014/main" id="{C76760F5-C03F-4B7E-82F0-A5404732E1CC}"/>
              </a:ext>
            </a:extLst>
          </p:cNvPr>
          <p:cNvSpPr>
            <a:spLocks xmlns:a="http://schemas.openxmlformats.org/drawingml/2006/main" noGrp="1"/>
          </p:cNvSpPr>
          <p:nvPr/>
        </p:nvSpPr>
        <p:spPr>
          <a:xfrm xmlns:a="http://schemas.openxmlformats.org/drawingml/2006/main">
            <a:off x="8143875" y="5210175"/>
            <a:ext cx="33432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D36"/>
                </a:solidFill>
                <a:latin typeface="Calibri"/>
                <a:ea typeface="Calibri"/>
                <a:cs typeface="Calibri"/>
              </a:defRPr>
            </a:defPPr>
          </a:lstStyle>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Independent scoring pending</a:t>
            </a:r>
          </a:p>
          <a:p xmlns:a="http://schemas.openxmlformats.org/drawingml/2006/main">
            <a:pPr>
              <a:buNone/>
              <a:defRPr sz="1875" b="0">
                <a:solidFill>
                  <a:srgbClr val="183D36"/>
                </a:solidFill>
                <a:latin typeface="Calibri"/>
                <a:ea typeface="Calibri"/>
                <a:cs typeface="Calibri"/>
              </a:defRPr>
            </a:pPr>
            <a:r>
              <a:rPr sz="1875" b="0">
                <a:solidFill>
                  <a:srgbClr val="183D36"/>
                </a:solidFill>
                <a:latin typeface="Calibri"/>
                <a:ea typeface="Calibri"/>
                <a:cs typeface="Calibri"/>
              </a:rPr>
              <a:t>No semantic accuracy estimate</a:t>
            </a:r>
          </a:p>
        </p:txBody>
      </p:sp>
    </p:spTree>
    <p:extLst>
      <p:ext uri="{BB962C8B-B14F-4D97-AF65-F5344CB8AC3E}">
        <p14:creationId xmlns:p14="http://schemas.microsoft.com/office/powerpoint/2010/main" val="170187268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4FBA6F4-ED89-4132-AE32-C055BC95411F}"/>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BD5036"/>
                </a:solidFill>
                <a:latin typeface="Calibri"/>
                <a:ea typeface="Calibri"/>
                <a:cs typeface="Calibri"/>
              </a:defRPr>
            </a:defPPr>
          </a:lstStyle>
          <a:p xmlns:a="http://schemas.openxmlformats.org/drawingml/2006/main">
            <a:pPr>
              <a:buNone/>
              <a:defRPr sz="1275" b="1">
                <a:solidFill>
                  <a:srgbClr val="BD5036"/>
                </a:solidFill>
                <a:latin typeface="Calibri"/>
                <a:ea typeface="Calibri"/>
                <a:cs typeface="Calibri"/>
              </a:defRPr>
            </a:pPr>
            <a:r>
              <a:rPr sz="1275" b="1">
                <a:solidFill>
                  <a:srgbClr val="BD5036"/>
                </a:solidFill>
                <a:latin typeface="Calibri"/>
                <a:ea typeface="Calibri"/>
                <a:cs typeface="Calibri"/>
              </a:rPr>
              <a:t>CS7327  /  MIDTERM PROJECT</a:t>
            </a:r>
          </a:p>
        </p:txBody>
      </p:sp>
      <p:sp>
        <p:nvSpPr>
          <p:cNvPr id="2" name="">
            <a:extLst xmlns:a="http://schemas.openxmlformats.org/drawingml/2006/main">
              <a:ext uri="{FF2B5EF4-FFF2-40B4-BE49-F238E27FC236}">
                <a16:creationId xmlns:a16="http://schemas.microsoft.com/office/drawing/2014/main" id="{690C8C8A-B0C8-441B-AE23-F05A6EC567FC}"/>
              </a:ext>
            </a:extLst>
          </p:cNvPr>
          <p:cNvSpPr>
            <a:spLocks xmlns:a="http://schemas.openxmlformats.org/drawingml/2006/main" noGrp="1"/>
          </p:cNvSpPr>
          <p:nvPr/>
        </p:nvSpPr>
        <p:spPr>
          <a:xfrm xmlns:a="http://schemas.openxmlformats.org/drawingml/2006/main">
            <a:off x="609600" y="7810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83D36"/>
                </a:solidFill>
                <a:latin typeface="Calibri"/>
                <a:ea typeface="Calibri"/>
                <a:cs typeface="Calibri"/>
              </a:defRPr>
            </a:defPPr>
          </a:lstStyle>
          <a:p xmlns:a="http://schemas.openxmlformats.org/drawingml/2006/main">
            <a:pPr>
              <a:buNone/>
              <a:defRPr sz="3225" b="1">
                <a:solidFill>
                  <a:srgbClr val="183D36"/>
                </a:solidFill>
                <a:latin typeface="Calibri"/>
                <a:ea typeface="Calibri"/>
                <a:cs typeface="Calibri"/>
              </a:defRPr>
            </a:pPr>
            <a:r>
              <a:rPr sz="3225" b="1">
                <a:solidFill>
                  <a:srgbClr val="183D36"/>
                </a:solidFill>
                <a:latin typeface="Calibri"/>
                <a:ea typeface="Calibri"/>
                <a:cs typeface="Calibri"/>
              </a:rPr>
              <a:t>Observed failure and remaining work</a:t>
            </a:r>
          </a:p>
        </p:txBody>
      </p:sp>
      <p:sp>
        <p:nvSpPr>
          <p:cNvPr id="3" name="">
            <a:extLst xmlns:a="http://schemas.openxmlformats.org/drawingml/2006/main">
              <a:ext uri="{FF2B5EF4-FFF2-40B4-BE49-F238E27FC236}">
                <a16:creationId xmlns:a16="http://schemas.microsoft.com/office/drawing/2014/main" id="{8A852525-B496-47C7-ABFD-22E62AFD2998}"/>
              </a:ext>
            </a:extLst>
          </p:cNvPr>
          <p:cNvSpPr>
            <a:spLocks xmlns:a="http://schemas.openxmlformats.org/drawingml/2006/main" noGrp="1"/>
          </p:cNvSpPr>
          <p:nvPr/>
        </p:nvSpPr>
        <p:spPr>
          <a:xfrm xmlns:a="http://schemas.openxmlformats.org/drawingml/2006/main">
            <a:off x="609600" y="6286500"/>
            <a:ext cx="10972800" cy="19050"/>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C7786D-49CA-4035-A5B2-B6B333AC7EA0}"/>
              </a:ext>
            </a:extLst>
          </p:cNvPr>
          <p:cNvSpPr>
            <a:spLocks xmlns:a="http://schemas.openxmlformats.org/drawingml/2006/main" noGrp="1"/>
          </p:cNvSpPr>
          <p:nvPr/>
        </p:nvSpPr>
        <p:spPr>
          <a:xfrm xmlns:a="http://schemas.openxmlformats.org/drawingml/2006/main">
            <a:off x="609600" y="64103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Jingcheng Zhou and Junliang Lyu</a:t>
            </a:r>
          </a:p>
        </p:txBody>
      </p:sp>
      <p:sp>
        <p:nvSpPr>
          <p:cNvPr id="5" name="">
            <a:extLst xmlns:a="http://schemas.openxmlformats.org/drawingml/2006/main">
              <a:ext uri="{FF2B5EF4-FFF2-40B4-BE49-F238E27FC236}">
                <a16:creationId xmlns:a16="http://schemas.microsoft.com/office/drawing/2014/main" id="{D66A27A1-1257-4D7F-9146-A53071589029}"/>
              </a:ext>
            </a:extLst>
          </p:cNvPr>
          <p:cNvSpPr>
            <a:spLocks xmlns:a="http://schemas.openxmlformats.org/drawingml/2006/main" noGrp="1"/>
          </p:cNvSpPr>
          <p:nvPr/>
        </p:nvSpPr>
        <p:spPr>
          <a:xfrm xmlns:a="http://schemas.openxmlformats.org/drawingml/2006/main">
            <a:off x="10953750" y="6410325"/>
            <a:ext cx="628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5766F"/>
                </a:solidFill>
                <a:latin typeface="Calibri"/>
                <a:ea typeface="Calibri"/>
                <a:cs typeface="Calibri"/>
              </a:defRPr>
            </a:defPPr>
          </a:lstStyle>
          <a:p xmlns:a="http://schemas.openxmlformats.org/drawingml/2006/main">
            <a:pPr>
              <a:buNone/>
              <a:defRPr sz="1275" b="0">
                <a:solidFill>
                  <a:srgbClr val="65766F"/>
                </a:solidFill>
                <a:latin typeface="Calibri"/>
                <a:ea typeface="Calibri"/>
                <a:cs typeface="Calibri"/>
              </a:defRPr>
            </a:pPr>
            <a:r>
              <a:rPr sz="1275" b="0">
                <a:solidFill>
                  <a:srgbClr val="65766F"/>
                </a:solidFill>
                <a:latin typeface="Calibri"/>
                <a:ea typeface="Calibri"/>
                <a:cs typeface="Calibri"/>
              </a:rPr>
              <a:t>5 / 5</a:t>
            </a:r>
          </a:p>
        </p:txBody>
      </p:sp>
      <p:sp>
        <p:nvSpPr>
          <p:cNvPr id="6" name="">
            <a:extLst xmlns:a="http://schemas.openxmlformats.org/drawingml/2006/main">
              <a:ext uri="{FF2B5EF4-FFF2-40B4-BE49-F238E27FC236}">
                <a16:creationId xmlns:a16="http://schemas.microsoft.com/office/drawing/2014/main" id="{D6BFD200-8F6A-4053-B296-9875EE7C14C5}"/>
              </a:ext>
            </a:extLst>
          </p:cNvPr>
          <p:cNvSpPr>
            <a:spLocks xmlns:a="http://schemas.openxmlformats.org/drawingml/2006/main" noGrp="1"/>
          </p:cNvSpPr>
          <p:nvPr/>
        </p:nvSpPr>
        <p:spPr>
          <a:xfrm xmlns:a="http://schemas.openxmlformats.org/drawingml/2006/main">
            <a:off x="609600" y="1743075"/>
            <a:ext cx="1100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BD5036"/>
                </a:solidFill>
                <a:latin typeface="Calibri"/>
                <a:ea typeface="Calibri"/>
                <a:cs typeface="Calibri"/>
              </a:defRPr>
            </a:defPPr>
          </a:lstStyle>
          <a:p xmlns:a="http://schemas.openxmlformats.org/drawingml/2006/main">
            <a:pPr>
              <a:buNone/>
              <a:defRPr sz="1650" b="1">
                <a:solidFill>
                  <a:srgbClr val="BD5036"/>
                </a:solidFill>
                <a:latin typeface="Calibri"/>
                <a:ea typeface="Calibri"/>
                <a:cs typeface="Calibri"/>
              </a:defRPr>
            </a:pPr>
            <a:r>
              <a:rPr sz="1650" b="1">
                <a:solidFill>
                  <a:srgbClr val="BD5036"/>
                </a:solidFill>
                <a:latin typeface="Calibri"/>
                <a:ea typeface="Calibri"/>
                <a:cs typeface="Calibri"/>
              </a:rPr>
              <a:t>HISTORICAL REAL RUN / Pearson and OLS reports were withheld</a:t>
            </a:r>
          </a:p>
        </p:txBody>
      </p:sp>
      <p:sp>
        <p:nvSpPr>
          <p:cNvPr id="7" name="">
            <a:extLst xmlns:a="http://schemas.openxmlformats.org/drawingml/2006/main">
              <a:ext uri="{FF2B5EF4-FFF2-40B4-BE49-F238E27FC236}">
                <a16:creationId xmlns:a16="http://schemas.microsoft.com/office/drawing/2014/main" id="{C447B7A4-F562-44A8-BFD9-510BD4DDB693}"/>
              </a:ext>
            </a:extLst>
          </p:cNvPr>
          <p:cNvSpPr>
            <a:spLocks xmlns:a="http://schemas.openxmlformats.org/drawingml/2006/main" noGrp="1"/>
          </p:cNvSpPr>
          <p:nvPr/>
        </p:nvSpPr>
        <p:spPr>
          <a:xfrm xmlns:a="http://schemas.openxmlformats.org/drawingml/2006/main">
            <a:off x="609600" y="2381250"/>
            <a:ext cx="10972800" cy="1171575"/>
          </a:xfrm>
          <a:prstGeom xmlns:a="http://schemas.openxmlformats.org/drawingml/2006/main" prst="rect">
            <a:avLst/>
          </a:prstGeom>
          <a:solidFill xmlns:a="http://schemas.openxmlformats.org/drawingml/2006/main">
            <a:srgbClr val="183D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797BB3-C11B-4076-A9A4-9D294E4F8FC0}"/>
              </a:ext>
            </a:extLst>
          </p:cNvPr>
          <p:cNvSpPr>
            <a:spLocks xmlns:a="http://schemas.openxmlformats.org/drawingml/2006/main" noGrp="1"/>
          </p:cNvSpPr>
          <p:nvPr/>
        </p:nvSpPr>
        <p:spPr>
          <a:xfrm xmlns:a="http://schemas.openxmlformats.org/drawingml/2006/main">
            <a:off x="828675" y="26384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FFFFF"/>
                </a:solidFill>
                <a:latin typeface="Calibri"/>
                <a:ea typeface="Calibri"/>
                <a:cs typeface="Calibri"/>
              </a:defRPr>
            </a:defPPr>
          </a:lstStyle>
          <a:p xmlns:a="http://schemas.openxmlformats.org/drawingml/2006/main">
            <a:pPr>
              <a:buNone/>
              <a:defRPr sz="2700" b="1">
                <a:solidFill>
                  <a:srgbClr val="FFFFFF"/>
                </a:solidFill>
                <a:latin typeface="Calibri"/>
                <a:ea typeface="Calibri"/>
                <a:cs typeface="Calibri"/>
              </a:defRPr>
            </a:pPr>
            <a:r>
              <a:rPr sz="2700" b="1">
                <a:solidFill>
                  <a:srgbClr val="FFFFFF"/>
                </a:solidFill>
                <a:latin typeface="Calibri"/>
                <a:ea typeface="Calibri"/>
                <a:cs typeface="Calibri"/>
              </a:rPr>
              <a:t>A valid H0 was blocked by the report checker</a:t>
            </a:r>
          </a:p>
        </p:txBody>
      </p:sp>
      <p:sp>
        <p:nvSpPr>
          <p:cNvPr id="9" name="">
            <a:extLst xmlns:a="http://schemas.openxmlformats.org/drawingml/2006/main">
              <a:ext uri="{FF2B5EF4-FFF2-40B4-BE49-F238E27FC236}">
                <a16:creationId xmlns:a16="http://schemas.microsoft.com/office/drawing/2014/main" id="{2CCE1608-20C9-43DE-B493-BA4F7666520B}"/>
              </a:ext>
            </a:extLst>
          </p:cNvPr>
          <p:cNvSpPr>
            <a:spLocks xmlns:a="http://schemas.openxmlformats.org/drawingml/2006/main" noGrp="1"/>
          </p:cNvSpPr>
          <p:nvPr/>
        </p:nvSpPr>
        <p:spPr>
          <a:xfrm xmlns:a="http://schemas.openxmlformats.org/drawingml/2006/main">
            <a:off x="609600" y="398145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buNone/>
              <a:defRPr sz="2175" b="1">
                <a:solidFill>
                  <a:srgbClr val="183D36"/>
                </a:solidFill>
                <a:latin typeface="Calibri"/>
                <a:ea typeface="Calibri"/>
                <a:cs typeface="Calibri"/>
              </a:defRPr>
            </a:pPr>
            <a:r>
              <a:rPr sz="2175" b="1">
                <a:solidFill>
                  <a:srgbClr val="183D36"/>
                </a:solidFill>
                <a:latin typeface="Calibri"/>
                <a:ea typeface="Calibri"/>
                <a:cs typeface="Calibri"/>
              </a:rPr>
              <a:t>What failed</a:t>
            </a:r>
          </a:p>
        </p:txBody>
      </p:sp>
      <p:sp>
        <p:nvSpPr>
          <p:cNvPr id="10" name="">
            <a:extLst xmlns:a="http://schemas.openxmlformats.org/drawingml/2006/main">
              <a:ext uri="{FF2B5EF4-FFF2-40B4-BE49-F238E27FC236}">
                <a16:creationId xmlns:a16="http://schemas.microsoft.com/office/drawing/2014/main" id="{324B6277-550E-4857-9F01-46E2F68F6F7F}"/>
              </a:ext>
            </a:extLst>
          </p:cNvPr>
          <p:cNvSpPr>
            <a:spLocks xmlns:a="http://schemas.openxmlformats.org/drawingml/2006/main" noGrp="1"/>
          </p:cNvSpPr>
          <p:nvPr/>
        </p:nvSpPr>
        <p:spPr>
          <a:xfrm xmlns:a="http://schemas.openxmlformats.org/drawingml/2006/main">
            <a:off x="609600" y="4524375"/>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Literal hypothesis zero</a:t>
            </a:r>
          </a:p>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clashed with placeholder rules</a:t>
            </a:r>
          </a:p>
        </p:txBody>
      </p:sp>
      <p:sp>
        <p:nvSpPr>
          <p:cNvPr id="11" name="">
            <a:extLst xmlns:a="http://schemas.openxmlformats.org/drawingml/2006/main">
              <a:ext uri="{FF2B5EF4-FFF2-40B4-BE49-F238E27FC236}">
                <a16:creationId xmlns:a16="http://schemas.microsoft.com/office/drawing/2014/main" id="{CD289297-FFAE-4296-A75F-AFB9B27B3A78}"/>
              </a:ext>
            </a:extLst>
          </p:cNvPr>
          <p:cNvSpPr>
            <a:spLocks xmlns:a="http://schemas.openxmlformats.org/drawingml/2006/main" noGrp="1"/>
          </p:cNvSpPr>
          <p:nvPr/>
        </p:nvSpPr>
        <p:spPr>
          <a:xfrm xmlns:a="http://schemas.openxmlformats.org/drawingml/2006/main">
            <a:off x="4476750" y="3981450"/>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buNone/>
              <a:defRPr sz="2175" b="1">
                <a:solidFill>
                  <a:srgbClr val="183D36"/>
                </a:solidFill>
                <a:latin typeface="Calibri"/>
                <a:ea typeface="Calibri"/>
                <a:cs typeface="Calibri"/>
              </a:defRPr>
            </a:pPr>
            <a:r>
              <a:rPr sz="2175" b="1">
                <a:solidFill>
                  <a:srgbClr val="183D36"/>
                </a:solidFill>
                <a:latin typeface="Calibri"/>
                <a:ea typeface="Calibri"/>
                <a:cs typeface="Calibri"/>
              </a:rPr>
              <a:t>What we fixed</a:t>
            </a:r>
          </a:p>
        </p:txBody>
      </p:sp>
      <p:sp>
        <p:nvSpPr>
          <p:cNvPr id="12" name="">
            <a:extLst xmlns:a="http://schemas.openxmlformats.org/drawingml/2006/main">
              <a:ext uri="{FF2B5EF4-FFF2-40B4-BE49-F238E27FC236}">
                <a16:creationId xmlns:a16="http://schemas.microsoft.com/office/drawing/2014/main" id="{29976432-4237-4515-A27A-86EFA2C7ED95}"/>
              </a:ext>
            </a:extLst>
          </p:cNvPr>
          <p:cNvSpPr>
            <a:spLocks xmlns:a="http://schemas.openxmlformats.org/drawingml/2006/main" noGrp="1"/>
          </p:cNvSpPr>
          <p:nvPr/>
        </p:nvSpPr>
        <p:spPr>
          <a:xfrm xmlns:a="http://schemas.openxmlformats.org/drawingml/2006/main">
            <a:off x="4476750" y="4524375"/>
            <a:ext cx="3248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Protected null values</a:t>
            </a:r>
          </a:p>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Separated null and estimate</a:t>
            </a:r>
          </a:p>
        </p:txBody>
      </p:sp>
      <p:sp>
        <p:nvSpPr>
          <p:cNvPr id="13" name="">
            <a:extLst xmlns:a="http://schemas.openxmlformats.org/drawingml/2006/main">
              <a:ext uri="{FF2B5EF4-FFF2-40B4-BE49-F238E27FC236}">
                <a16:creationId xmlns:a16="http://schemas.microsoft.com/office/drawing/2014/main" id="{4F63C670-5CFF-451F-9A2B-C203EE589953}"/>
              </a:ext>
            </a:extLst>
          </p:cNvPr>
          <p:cNvSpPr>
            <a:spLocks xmlns:a="http://schemas.openxmlformats.org/drawingml/2006/main" noGrp="1"/>
          </p:cNvSpPr>
          <p:nvPr/>
        </p:nvSpPr>
        <p:spPr>
          <a:xfrm xmlns:a="http://schemas.openxmlformats.org/drawingml/2006/main">
            <a:off x="8334375" y="3981450"/>
            <a:ext cx="3248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D36"/>
                </a:solidFill>
                <a:latin typeface="Calibri"/>
                <a:ea typeface="Calibri"/>
                <a:cs typeface="Calibri"/>
              </a:defRPr>
            </a:defPPr>
          </a:lstStyle>
          <a:p xmlns:a="http://schemas.openxmlformats.org/drawingml/2006/main">
            <a:pPr>
              <a:buNone/>
              <a:defRPr sz="2175" b="1">
                <a:solidFill>
                  <a:srgbClr val="183D36"/>
                </a:solidFill>
                <a:latin typeface="Calibri"/>
                <a:ea typeface="Calibri"/>
                <a:cs typeface="Calibri"/>
              </a:defRPr>
            </a:pPr>
            <a:r>
              <a:rPr sz="2175" b="1">
                <a:solidFill>
                  <a:srgbClr val="183D36"/>
                </a:solidFill>
                <a:latin typeface="Calibri"/>
                <a:ea typeface="Calibri"/>
                <a:cs typeface="Calibri"/>
              </a:rPr>
              <a:t>What remains</a:t>
            </a:r>
          </a:p>
        </p:txBody>
      </p:sp>
      <p:sp>
        <p:nvSpPr>
          <p:cNvPr id="14" name="">
            <a:extLst xmlns:a="http://schemas.openxmlformats.org/drawingml/2006/main">
              <a:ext uri="{FF2B5EF4-FFF2-40B4-BE49-F238E27FC236}">
                <a16:creationId xmlns:a16="http://schemas.microsoft.com/office/drawing/2014/main" id="{F199CCF3-9072-493B-A104-BFAED16231F2}"/>
              </a:ext>
            </a:extLst>
          </p:cNvPr>
          <p:cNvSpPr>
            <a:spLocks xmlns:a="http://schemas.openxmlformats.org/drawingml/2006/main" noGrp="1"/>
          </p:cNvSpPr>
          <p:nvPr/>
        </p:nvSpPr>
        <p:spPr>
          <a:xfrm xmlns:a="http://schemas.openxmlformats.org/drawingml/2006/main">
            <a:off x="8334375" y="4524375"/>
            <a:ext cx="3248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D36"/>
                </a:solidFill>
                <a:latin typeface="Calibri"/>
                <a:ea typeface="Calibri"/>
                <a:cs typeface="Calibri"/>
              </a:defRPr>
            </a:defPPr>
          </a:lstStyle>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Reviewer false alarms</a:t>
            </a:r>
          </a:p>
          <a:p xmlns:a="http://schemas.openxmlformats.org/drawingml/2006/main">
            <a:pPr>
              <a:buNone/>
              <a:defRPr sz="2025" b="0">
                <a:solidFill>
                  <a:srgbClr val="183D36"/>
                </a:solidFill>
                <a:latin typeface="Calibri"/>
                <a:ea typeface="Calibri"/>
                <a:cs typeface="Calibri"/>
              </a:defRPr>
            </a:pPr>
            <a:r>
              <a:rPr sz="2025" b="0">
                <a:solidFill>
                  <a:srgbClr val="183D36"/>
                </a:solidFill>
                <a:latin typeface="Calibri"/>
                <a:ea typeface="Calibri"/>
                <a:cs typeface="Calibri"/>
              </a:rPr>
              <a:t>Human semantic scoring pending</a:t>
            </a:r>
          </a:p>
        </p:txBody>
      </p:sp>
      <p:sp>
        <p:nvSpPr>
          <p:cNvPr id="15" name="">
            <a:extLst xmlns:a="http://schemas.openxmlformats.org/drawingml/2006/main">
              <a:ext uri="{FF2B5EF4-FFF2-40B4-BE49-F238E27FC236}">
                <a16:creationId xmlns:a16="http://schemas.microsoft.com/office/drawing/2014/main" id="{EEEA4BE4-9601-4C06-81B4-DA658F2D212C}"/>
              </a:ext>
            </a:extLst>
          </p:cNvPr>
          <p:cNvSpPr>
            <a:spLocks xmlns:a="http://schemas.openxmlformats.org/drawingml/2006/main" noGrp="1"/>
          </p:cNvSpPr>
          <p:nvPr/>
        </p:nvSpPr>
        <p:spPr>
          <a:xfrm xmlns:a="http://schemas.openxmlformats.org/drawingml/2006/main">
            <a:off x="609600" y="58293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D5036"/>
                </a:solidFill>
                <a:latin typeface="Calibri"/>
                <a:ea typeface="Calibri"/>
                <a:cs typeface="Calibri"/>
              </a:defRPr>
            </a:defPPr>
          </a:lstStyle>
          <a:p xmlns:a="http://schemas.openxmlformats.org/drawingml/2006/main">
            <a:pPr>
              <a:buNone/>
              <a:defRPr sz="1725" b="1">
                <a:solidFill>
                  <a:srgbClr val="BD5036"/>
                </a:solidFill>
                <a:latin typeface="Calibri"/>
                <a:ea typeface="Calibri"/>
                <a:cs typeface="Calibri"/>
              </a:defRPr>
            </a:pPr>
            <a:r>
              <a:rPr sz="1725" b="1">
                <a:solidFill>
                  <a:srgbClr val="BD5036"/>
                </a:solidFill>
                <a:latin typeface="Calibri"/>
                <a:ea typeface="Calibri"/>
                <a:cs typeface="Calibri"/>
              </a:rPr>
              <a:t>Repair delivered Pearson and OLS. Two-model agreement still needs human evaluation.</a:t>
            </a:r>
          </a:p>
        </p:txBody>
      </p:sp>
    </p:spTree>
    <p:extLst>
      <p:ext uri="{BB962C8B-B14F-4D97-AF65-F5344CB8AC3E}">
        <p14:creationId xmlns:p14="http://schemas.microsoft.com/office/powerpoint/2010/main" val="37923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2026-10-13T00:53:32.8350000Z</dcterms:created>
  <dcterms:modified xsi:type="dcterms:W3CDTF">2026-10-13T00:53:32.8350000Z</dcterms:modified>
</coreProperties>
</file>